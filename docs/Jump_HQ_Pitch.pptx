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f48bfcf-2f65-b205-03ac-cb94058e5334}">
          <p14:sldIdLst>
            <p14:sldId id="256"/>
          </p14:sldIdLst>
        </p14:section>
        <p14:section name="Problem" id="{69ec3e47-53af-a0dc-e980-39277873f343}">
          <p14:sldIdLst>
            <p14:sldId id="257"/>
            <p14:sldId id="258"/>
          </p14:sldIdLst>
        </p14:section>
        <p14:section name="Solution" id="{fd52fd1f-4570-d5e1-b041-b6b8a251e348}">
          <p14:sldIdLst>
            <p14:sldId id="259"/>
            <p14:sldId id="260"/>
            <p14:sldId id="261"/>
          </p14:sldIdLst>
        </p14:section>
        <p14:section name="Trust" id="{f7d689ad-347e-4c86-e8f6-4d12a1c789f7}">
          <p14:sldIdLst>
            <p14:sldId id="262"/>
            <p14:sldId id="263"/>
            <p14:sldId id="264"/>
          </p14:sldIdLst>
        </p14:section>
        <p14:section name="Business" id="{c46f55e1-dfeb-1288-80fb-07e5e98e622b}">
          <p14:sldIdLst>
            <p14:sldId id="265"/>
          </p14:sldIdLst>
        </p14:section>
        <p14:section name="Demo and close" id="{db7cd561-86d4-1f93-460a-461d89215739}">
          <p14:sldIdLst>
            <p14:sldId id="266"/>
            <p14:sldId id="267"/>
          </p14:sldIdLst>
        </p14:section>
        <p14:section name="Backup" id="{ad8a73f9-83d2-d02d-d93f-b6d72fff87bb}">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A33"/>
                </a:solidFill>
                <a:latin typeface="+mn-lt"/>
              </a:defRPr>
            </a:pPr>
            <a:r>
              <a:rPr sz="1300" b="0" i="0" u="none" strike="noStrike">
                <a:solidFill>
                  <a:srgbClr val="0E1A33"/>
                </a:solidFill>
                <a:latin typeface="+mn-lt"/>
              </a:rPr>
              <a:t>Projection: monthly revenue</a:t>
            </a:r>
          </a:p>
        </c:rich>
      </c:tx>
      <c:layout/>
      <c:overlay val="0"/>
    </c:title>
    <c:autoTitleDeleted val="0"/>
    <c:plotArea>
      <c:layout/>
      <c:barChart>
        <c:barDir val="col"/>
        <c:grouping val="clustered"/>
        <c:varyColors val="0"/>
        <c:ser>
          <c:idx val="0"/>
          <c:order val="0"/>
          <c:tx>
            <c:strRef>
              <c:f>Sheet1!$B$1</c:f>
              <c:strCache>
                <c:ptCount val="1"/>
                <c:pt idx="0">
                  <c:v>Monthly recurring ($)</c:v>
                </c:pt>
              </c:strCache>
            </c:strRef>
          </c:tx>
          <c:spPr>
            <a:solidFill>
              <a:srgbClr val="FF6B2C"/>
            </a:solidFill>
            <a:effectLst/>
          </c:spPr>
          <c:invertIfNegative val="0"/>
          <c:dLbls>
            <c:numFmt formatCode="&quot;$&quot;#,##0" sourceLinked="0"/>
            <c:txPr>
              <a:bodyPr/>
              <a:lstStyle/>
              <a:p>
                <a:pPr>
                  <a:defRPr b="0" i="0" strike="noStrike" sz="1400" u="none">
                    <a:solidFill>
                      <a:srgbClr val="0E1A33"/>
                    </a:solidFill>
                    <a:latin typeface="+mn-lt"/>
                  </a:defRPr>
                </a:pPr>
              </a:p>
            </c:txPr>
            <c:showLegendKey val="0"/>
            <c:showVal val="1"/>
            <c:showCatName val="0"/>
            <c:showSerName val="0"/>
            <c:showPercent val="0"/>
            <c:showBubbleSize val="0"/>
            <c:showLeaderLines val="0"/>
          </c:dLbls>
          <c:cat>
            <c:multiLvlStrRef>
              <c:f>Sheet1!$A$2:$A$3</c:f>
              <c:multiLvlStrCache>
                <c:ptCount val="2"/>
                <c:lvl>
                  <c:pt idx="0">
                    <c:v>Month 1</c:v>
                  </c:pt>
                  <c:pt idx="1">
                    <c:v>Month 3</c:v>
                  </c:pt>
                </c:lvl>
              </c:multiLvlStrCache>
            </c:multiLvlStrRef>
          </c:cat>
          <c:val>
            <c:numRef>
              <c:f>Sheet1!$B$2:$B$3</c:f>
              <c:numCache>
                <c:formatCode>General</c:formatCode>
                <c:ptCount val="2"/>
                <c:pt idx="0">
                  <c:v>300</c:v>
                </c:pt>
                <c:pt idx="1">
                  <c:v>1600</c:v>
                </c:pt>
              </c:numCache>
            </c:numRef>
          </c:val>
        </c:ser>
        <c:dLbls>
          <c:numFmt formatCode="&quot;$&quot;#,##0" sourceLinked="0"/>
          <c:txPr>
            <a:bodyPr/>
            <a:lstStyle/>
            <a:p>
              <a:pPr>
                <a:defRPr b="0" i="0" strike="noStrike" sz="1400" u="none">
                  <a:solidFill>
                    <a:srgbClr val="0E1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Ramyar. This is Jump HQ: an AI team that finds your clients and runs your social media, built here in Sulaimani. Keep it under 20 seconds and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Sulaimani, a lot of people already make money online: video ad makers, designers, marketers, Instagram shops. Their problem isn’t the work, it’s growth. Freelancers spend hours finding each client, and Upwork and Fiverr don’t work from Iraq. Online shops live on posting, and posting every day on four apps is a full-time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sell to shops that never sold online. Our customers already earn. I’m one of them: I make AI video ads for a US brand from Sulaimani. The hard part was always finding the next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Jump HQ has two modes and one team. Mode one finds clients. Mode two runs your own pages. Between the team and the world sits the AI Judge, and the owner only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Jump HQ what you sell in a 2-minute chat. The Scout looks for buying signals: people asking for your service, brands already paying for ads, shops whose pages went quiet. The team proves they’re real, scores who will pay, makes a free sample of your work, and writes the message in Sorani.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own pages, the Content creator plans your posts, makes pictures and short videos in Kurdish, and posts them on time to Facebook and Telegram. Instagram and TikTok take one tap. These two are real posts the system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in code catch a wrong number, a missing link or spam. Then an AI review checks for invented facts, pressure or a wrong tone. In testing it rewrote a message that praised a feature nothing supported, and it held this one because the number wasn’t the business’s own. Press Sleep and the team keeps working; safe items go out, risky ones wait for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map shows the team at work on Pozaka Street with the real time and weather. Everything also works from the Android app: pair by QR and approve from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does every step; the human only decides. Honest note: the search-to-sample pipeline was started on October 6. Everything in the dark box was built here, October 8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 subscription. Sign up and your team is working in seconds. Pro is 20 dollars a month, Agency is 60. Our customers already earn online, so one client pays for a year. The cheap model does most of the work, and plan limits keep every customer profitable. A Pro user costs us about 4 to 6 dollars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Home with clients found today, open a free sample and the Judge verdict, tap Approve so WhatsApp opens, show Grow posts and tap Post now, then switch to Sleep. Keep it to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at this hackathon: the Judge, Sleep mode, Grow mode, the phone app, setup for any business, Kurdish and Arabic. Jump HQ gives every online seller in Sulaimani a team that never sleeps.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for Q&amp;A, not part of the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E1A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accent5"/>
                </a:solidFill>
              </a:rPr>
              <a:t>Jump HQ · SmartSuli AI Hackathon 2026</a:t>
            </a:r>
            <a:endParaRPr lang="en-US" sz="1000" dirty="0"/>
          </a:p>
        </p:txBody>
      </p:sp>
      <p:sp>
        <p:nvSpPr>
          <p:cNvPr id="3" name="Text 1"/>
          <p:cNvSpPr/>
          <p:nvPr>
            <p:ph idx="101" type="title" hasCustomPrompt="1"/>
          </p:nvPr>
        </p:nvSpPr>
        <p:spPr>
          <a:xfrm>
            <a:off x="548640" y="411480"/>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E1A33"/>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rgbClr val="8A93A6"/>
                </a:solidFill>
              </a:rPr>
              <a:t>Jump HQ · SmartSuli AI Hackathon 2026</a:t>
            </a:r>
            <a:endParaRPr lang="en-US" sz="1000" dirty="0"/>
          </a:p>
        </p:txBody>
      </p:sp>
      <p:sp>
        <p:nvSpPr>
          <p:cNvPr id="3" name="Text 1"/>
          <p:cNvSpPr/>
          <p:nvPr>
            <p:ph idx="101" type="title" hasCustomPrompt="1"/>
          </p:nvPr>
        </p:nvSpPr>
        <p:spPr>
          <a:xfrm>
            <a:off x="548640" y="411480"/>
            <a:ext cx="1106424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cNvSpPr/>
          <p:nvPr/>
        </p:nvSpPr>
        <p:spPr>
          <a:xfrm>
            <a:off x="548640" y="548640"/>
            <a:ext cx="566928" cy="566928"/>
          </a:xfrm>
          <a:prstGeom prst="roundRect">
            <a:avLst>
              <a:gd name="adj" fmla="val 19355"/>
            </a:avLst>
          </a:prstGeom>
          <a:solidFill>
            <a:schemeClr val="accent1"/>
          </a:solidFill>
          <a:ln w="12700">
            <a:solidFill>
              <a:schemeClr val="accent1"/>
            </a:solidFill>
            <a:prstDash val="solid"/>
          </a:ln>
        </p:spPr>
      </p:sp>
      <p:sp>
        <p:nvSpPr>
          <p:cNvPr id="3" name="Text 1"/>
          <p:cNvSpPr txBox="1"/>
          <p:nvPr/>
        </p:nvSpPr>
        <p:spPr>
          <a:xfrm>
            <a:off x="548640" y="548640"/>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J</a:t>
            </a:r>
            <a:endParaRPr lang="en-US" sz="2400" dirty="0"/>
          </a:p>
        </p:txBody>
      </p:sp>
      <p:sp>
        <p:nvSpPr>
          <p:cNvPr id="4" name="Text 2"/>
          <p:cNvSpPr txBox="1"/>
          <p:nvPr/>
        </p:nvSpPr>
        <p:spPr>
          <a:xfrm>
            <a:off x="1234440" y="548640"/>
            <a:ext cx="2743200" cy="566928"/>
          </a:xfrm>
          <a:prstGeom prst="rect">
            <a:avLst/>
          </a:prstGeom>
          <a:noFill/>
          <a:ln/>
        </p:spPr>
        <p:txBody>
          <a:bodyPr wrap="square" lIns="0" tIns="0" rIns="0" bIns="0" rtlCol="0" anchor="ctr"/>
          <a:lstStyle/>
          <a:p>
            <a:pPr indent="0" marL="0">
              <a:buNone/>
            </a:pPr>
            <a:r>
              <a:rPr lang="en-US" sz="2200" b="1" dirty="0">
                <a:solidFill>
                  <a:schemeClr val="bg1"/>
                </a:solidFill>
              </a:rPr>
              <a:t>Jump </a:t>
            </a:r>
            <a:pPr indent="0" marL="0">
              <a:buNone/>
            </a:pPr>
            <a:r>
              <a:rPr lang="en-US" sz="2200" dirty="0">
                <a:solidFill>
                  <a:srgbClr val="C9D1E3"/>
                </a:solidFill>
              </a:rPr>
              <a:t>HQ</a:t>
            </a:r>
            <a:endParaRPr lang="en-US" sz="2200" dirty="0"/>
          </a:p>
        </p:txBody>
      </p:sp>
      <p:sp>
        <p:nvSpPr>
          <p:cNvPr id="5" name="Text 3"/>
          <p:cNvSpPr txBox="1"/>
          <p:nvPr/>
        </p:nvSpPr>
        <p:spPr>
          <a:xfrm>
            <a:off x="548640" y="1737360"/>
            <a:ext cx="548640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BUILT IN SULAIMANI</a:t>
            </a:r>
            <a:endParaRPr lang="en-US" sz="1400" dirty="0"/>
          </a:p>
        </p:txBody>
      </p:sp>
      <p:sp>
        <p:nvSpPr>
          <p:cNvPr id="6" name="Text 4"/>
          <p:cNvSpPr txBox="1"/>
          <p:nvPr/>
        </p:nvSpPr>
        <p:spPr>
          <a:xfrm>
            <a:off x="548640" y="2148840"/>
            <a:ext cx="5852160" cy="2377440"/>
          </a:xfrm>
          <a:prstGeom prst="rect">
            <a:avLst/>
          </a:prstGeom>
          <a:noFill/>
          <a:ln/>
        </p:spPr>
        <p:txBody>
          <a:bodyPr wrap="square" lIns="0" tIns="0" rIns="0" bIns="0" rtlCol="0" anchor="t"/>
          <a:lstStyle/>
          <a:p>
            <a:pPr indent="0" marL="0">
              <a:buNone/>
            </a:pPr>
            <a:r>
              <a:rPr lang="en-US" sz="4400" b="1" dirty="0">
                <a:solidFill>
                  <a:schemeClr val="bg1"/>
                </a:solidFill>
                <a:latin typeface="Calibri" pitchFamily="34" charset="0"/>
                <a:ea typeface="Calibri" pitchFamily="34" charset="-122"/>
                <a:cs typeface="Calibri" pitchFamily="34" charset="-120"/>
              </a:rPr>
              <a:t>An AI team that finds your clients and runs your social media</a:t>
            </a:r>
            <a:endParaRPr lang="en-US" sz="4400" dirty="0"/>
          </a:p>
        </p:txBody>
      </p:sp>
      <p:sp>
        <p:nvSpPr>
          <p:cNvPr id="7" name="Text 5"/>
          <p:cNvSpPr txBox="1"/>
          <p:nvPr/>
        </p:nvSpPr>
        <p:spPr>
          <a:xfrm>
            <a:off x="548640" y="4572000"/>
            <a:ext cx="5669280" cy="914400"/>
          </a:xfrm>
          <a:prstGeom prst="rect">
            <a:avLst/>
          </a:prstGeom>
          <a:noFill/>
          <a:ln/>
        </p:spPr>
        <p:txBody>
          <a:bodyPr wrap="square" lIns="0" tIns="0" rIns="0" bIns="0" rtlCol="0" anchor="ctr"/>
          <a:lstStyle/>
          <a:p>
            <a:pPr indent="0" marL="0">
              <a:buNone/>
            </a:pPr>
            <a:r>
              <a:rPr lang="en-US" sz="1600" dirty="0">
                <a:solidFill>
                  <a:srgbClr val="C9D1E3"/>
                </a:solidFill>
              </a:rPr>
              <a:t>For Sulaimani’s online businesses and freelancers. Works 24/7 in Kurdish, Arabic and English. You approve everything from your phone.</a:t>
            </a:r>
            <a:endParaRPr lang="en-US" sz="1600" dirty="0"/>
          </a:p>
        </p:txBody>
      </p:sp>
      <p:sp>
        <p:nvSpPr>
          <p:cNvPr id="8" name="Text 6"/>
          <p:cNvSpPr txBox="1"/>
          <p:nvPr/>
        </p:nvSpPr>
        <p:spPr>
          <a:xfrm>
            <a:off x="548640" y="6035040"/>
            <a:ext cx="5669280" cy="365760"/>
          </a:xfrm>
          <a:prstGeom prst="rect">
            <a:avLst/>
          </a:prstGeom>
          <a:noFill/>
          <a:ln/>
        </p:spPr>
        <p:txBody>
          <a:bodyPr wrap="square" lIns="0" tIns="0" rIns="0" bIns="0" rtlCol="0" anchor="ctr"/>
          <a:lstStyle/>
          <a:p>
            <a:pPr indent="0" marL="0">
              <a:buNone/>
            </a:pPr>
            <a:r>
              <a:rPr lang="en-US" sz="1200" dirty="0">
                <a:solidFill>
                  <a:srgbClr val="8A93A6"/>
                </a:solidFill>
              </a:rPr>
              <a:t>Ramyar · Jump  |  SmartSuli AI Hackathon 2026</a:t>
            </a:r>
            <a:endParaRPr lang="en-US" sz="1200" dirty="0"/>
          </a:p>
        </p:txBody>
      </p:sp>
      <p:pic>
        <p:nvPicPr>
          <p:cNvPr id="9" name="website screenshot" descr="C:\Users\ramya\AppData\Local\Temp\deck\shots\cloud.png">    </p:cNvPr>
          <p:cNvPicPr>
            <a:picLocks noChangeAspect="1"/>
          </p:cNvPicPr>
          <p:nvPr/>
        </p:nvPicPr>
        <p:blipFill>
          <a:blip r:embed="rId1"/>
          <a:stretch>
            <a:fillRect/>
          </a:stretch>
        </p:blipFill>
        <p:spPr>
          <a:xfrm>
            <a:off x="6675120" y="1417320"/>
            <a:ext cx="5029200" cy="3145536"/>
          </a:xfrm>
          <a:prstGeom prst="rect">
            <a:avLst/>
          </a:prstGeom>
          <a:effectLst>
            <a:outerShdw sx="100000" sy="100000" kx="0" ky="0" algn="bl" rotWithShape="0" blurRad="228600" dist="50800" dir="5400000">
              <a:srgbClr val="000000">
                <a:alpha val="25000"/>
              </a:srgbClr>
            </a:outerShdw>
          </a:effectLst>
        </p:spPr>
      </p:pic>
      <p:sp>
        <p:nvSpPr>
          <p:cNvPr id="10" name="Text 7"/>
          <p:cNvSpPr txBox="1"/>
          <p:nvPr/>
        </p:nvSpPr>
        <p:spPr>
          <a:xfrm>
            <a:off x="6675120" y="4663440"/>
            <a:ext cx="5029200" cy="365760"/>
          </a:xfrm>
          <a:prstGeom prst="rect">
            <a:avLst/>
          </a:prstGeom>
          <a:noFill/>
          <a:ln/>
        </p:spPr>
        <p:txBody>
          <a:bodyPr wrap="square" lIns="0" tIns="0" rIns="0" bIns="0" rtlCol="0" anchor="ctr"/>
          <a:lstStyle/>
          <a:p>
            <a:pPr indent="0" marL="0">
              <a:buNone/>
            </a:pPr>
            <a:r>
              <a:rPr lang="en-US" sz="1200" dirty="0">
                <a:solidFill>
                  <a:srgbClr val="8A93A6"/>
                </a:solidFill>
              </a:rPr>
              <a:t>Our public website: sign up, free week, your team starts in seconds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For online sellers, the work is easy, growing is hard</a:t>
            </a:r>
            <a:endParaRPr lang="en-US" sz="3200" dirty="0"/>
          </a:p>
        </p:txBody>
      </p:sp>
      <p:sp>
        <p:nvSpPr>
          <p:cNvPr id="3" name="Text 1"/>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800" dirty="0">
                <a:solidFill>
                  <a:schemeClr val="accent5"/>
                </a:solidFill>
              </a:rPr>
              <a:t>Ad makers, designers, marketers, developers and Instagram / TikTok shops already earn online</a:t>
            </a:r>
            <a:endParaRPr lang="en-US" sz="1800" dirty="0"/>
          </a:p>
        </p:txBody>
      </p:sp>
      <p:sp>
        <p:nvSpPr>
          <p:cNvPr id="4" name="card"/>
          <p:cNvSpPr/>
          <p:nvPr/>
        </p:nvSpPr>
        <p:spPr>
          <a:xfrm>
            <a:off x="548640" y="2011680"/>
            <a:ext cx="5440680" cy="2834640"/>
          </a:xfrm>
          <a:prstGeom prst="roundRect">
            <a:avLst>
              <a:gd name="adj" fmla="val 3871"/>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5" name="icon circle"/>
          <p:cNvSpPr/>
          <p:nvPr/>
        </p:nvSpPr>
        <p:spPr>
          <a:xfrm>
            <a:off x="914400" y="2331720"/>
            <a:ext cx="566928" cy="566928"/>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1039124" y="2456444"/>
            <a:ext cx="317480" cy="317480"/>
          </a:xfrm>
          <a:prstGeom prst="rect">
            <a:avLst/>
          </a:prstGeom>
        </p:spPr>
      </p:pic>
      <p:sp>
        <p:nvSpPr>
          <p:cNvPr id="7" name="Text 4"/>
          <p:cNvSpPr txBox="1"/>
          <p:nvPr/>
        </p:nvSpPr>
        <p:spPr>
          <a:xfrm>
            <a:off x="1645920" y="2331720"/>
            <a:ext cx="4114800" cy="566928"/>
          </a:xfrm>
          <a:prstGeom prst="rect">
            <a:avLst/>
          </a:prstGeom>
          <a:noFill/>
          <a:ln/>
        </p:spPr>
        <p:txBody>
          <a:bodyPr wrap="square" lIns="0" tIns="0" rIns="0" bIns="0" rtlCol="0" anchor="ctr"/>
          <a:lstStyle/>
          <a:p>
            <a:pPr indent="0" marL="0">
              <a:buNone/>
            </a:pPr>
            <a:r>
              <a:rPr lang="en-US" sz="2200" b="1" dirty="0">
                <a:solidFill>
                  <a:schemeClr val="tx1"/>
                </a:solidFill>
              </a:rPr>
              <a:t>Freelancers and agencies</a:t>
            </a:r>
            <a:endParaRPr lang="en-US" sz="2200" dirty="0"/>
          </a:p>
        </p:txBody>
      </p:sp>
      <p:sp>
        <p:nvSpPr>
          <p:cNvPr id="8" name="Text 5"/>
          <p:cNvSpPr txBox="1"/>
          <p:nvPr/>
        </p:nvSpPr>
        <p:spPr>
          <a:xfrm>
            <a:off x="914400" y="3108960"/>
            <a:ext cx="4754880" cy="1554480"/>
          </a:xfrm>
          <a:prstGeom prst="rect">
            <a:avLst/>
          </a:prstGeom>
          <a:noFill/>
          <a:ln/>
        </p:spPr>
        <p:txBody>
          <a:bodyPr wrap="square" lIns="0" tIns="0" rIns="0" bIns="0" rtlCol="0" anchor="t"/>
          <a:lstStyle/>
          <a:p>
            <a:pPr indent="0" marL="0">
              <a:buNone/>
            </a:pPr>
            <a:r>
              <a:rPr lang="en-US" sz="1600" dirty="0">
                <a:solidFill>
                  <a:schemeClr val="accent5"/>
                </a:solidFill>
              </a:rPr>
              <a:t>Every new client means hours of searching, checking the business, making a sample and writing a good message in Sorani. Upwork, Fiverr and Stripe payouts don’t work from Iraq, so most give up after a few tries.</a:t>
            </a:r>
            <a:endParaRPr lang="en-US" sz="1600" dirty="0"/>
          </a:p>
        </p:txBody>
      </p:sp>
      <p:sp>
        <p:nvSpPr>
          <p:cNvPr id="9" name="card"/>
          <p:cNvSpPr/>
          <p:nvPr/>
        </p:nvSpPr>
        <p:spPr>
          <a:xfrm>
            <a:off x="6172200" y="2011680"/>
            <a:ext cx="5440680" cy="2834640"/>
          </a:xfrm>
          <a:prstGeom prst="roundRect">
            <a:avLst>
              <a:gd name="adj" fmla="val 3871"/>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0" name="icon circle"/>
          <p:cNvSpPr/>
          <p:nvPr/>
        </p:nvSpPr>
        <p:spPr>
          <a:xfrm>
            <a:off x="6537960" y="2331720"/>
            <a:ext cx="566928" cy="56692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6662684" y="2456444"/>
            <a:ext cx="317480" cy="317480"/>
          </a:xfrm>
          <a:prstGeom prst="rect">
            <a:avLst/>
          </a:prstGeom>
        </p:spPr>
      </p:pic>
      <p:sp>
        <p:nvSpPr>
          <p:cNvPr id="12" name="Text 8"/>
          <p:cNvSpPr txBox="1"/>
          <p:nvPr/>
        </p:nvSpPr>
        <p:spPr>
          <a:xfrm>
            <a:off x="7269480" y="2331720"/>
            <a:ext cx="4114800" cy="566928"/>
          </a:xfrm>
          <a:prstGeom prst="rect">
            <a:avLst/>
          </a:prstGeom>
          <a:noFill/>
          <a:ln/>
        </p:spPr>
        <p:txBody>
          <a:bodyPr wrap="square" lIns="0" tIns="0" rIns="0" bIns="0" rtlCol="0" anchor="ctr"/>
          <a:lstStyle/>
          <a:p>
            <a:pPr indent="0" marL="0">
              <a:buNone/>
            </a:pPr>
            <a:r>
              <a:rPr lang="en-US" sz="2200" b="1" dirty="0">
                <a:solidFill>
                  <a:schemeClr val="tx1"/>
                </a:solidFill>
              </a:rPr>
              <a:t>Online shops and brands</a:t>
            </a:r>
            <a:endParaRPr lang="en-US" sz="2200" dirty="0"/>
          </a:p>
        </p:txBody>
      </p:sp>
      <p:sp>
        <p:nvSpPr>
          <p:cNvPr id="13" name="Text 9"/>
          <p:cNvSpPr txBox="1"/>
          <p:nvPr/>
        </p:nvSpPr>
        <p:spPr>
          <a:xfrm>
            <a:off x="6537960" y="3108960"/>
            <a:ext cx="4754880" cy="1554480"/>
          </a:xfrm>
          <a:prstGeom prst="rect">
            <a:avLst/>
          </a:prstGeom>
          <a:noFill/>
          <a:ln/>
        </p:spPr>
        <p:txBody>
          <a:bodyPr wrap="square" lIns="0" tIns="0" rIns="0" bIns="0" rtlCol="0" anchor="t"/>
          <a:lstStyle/>
          <a:p>
            <a:pPr indent="0" marL="0">
              <a:buNone/>
            </a:pPr>
            <a:r>
              <a:rPr lang="en-US" sz="1600" dirty="0">
                <a:solidFill>
                  <a:schemeClr val="accent5"/>
                </a:solidFill>
              </a:rPr>
              <a:t>Sales follow posting. Posting every day on four apps is a full-time job that most small sellers can’t pay someone for.</a:t>
            </a:r>
            <a:endParaRPr lang="en-US" sz="1600" dirty="0"/>
          </a:p>
        </p:txBody>
      </p:sp>
      <p:sp>
        <p:nvSpPr>
          <p:cNvPr id="14" name="problem sentence"/>
          <p:cNvSpPr/>
          <p:nvPr/>
        </p:nvSpPr>
        <p:spPr>
          <a:xfrm>
            <a:off x="548640" y="5120640"/>
            <a:ext cx="11064240" cy="1005840"/>
          </a:xfrm>
          <a:prstGeom prst="roundRect">
            <a:avLst>
              <a:gd name="adj" fmla="val 10909"/>
            </a:avLst>
          </a:prstGeom>
          <a:solidFill>
            <a:schemeClr val="tx2"/>
          </a:solidFill>
          <a:ln w="12700">
            <a:solidFill>
              <a:schemeClr val="tx2"/>
            </a:solidFill>
            <a:prstDash val="solid"/>
          </a:ln>
          <a:effectLst>
            <a:outerShdw sx="100000" sy="100000" kx="0" ky="0" algn="bl" rotWithShape="0" blurRad="228600" dist="50800" dir="5400000">
              <a:srgbClr val="000000">
                <a:alpha val="25000"/>
              </a:srgbClr>
            </a:outerShdw>
          </a:effectLst>
        </p:spPr>
      </p:sp>
      <p:sp>
        <p:nvSpPr>
          <p:cNvPr id="15" name="Text 11"/>
          <p:cNvSpPr txBox="1"/>
          <p:nvPr/>
        </p:nvSpPr>
        <p:spPr>
          <a:xfrm>
            <a:off x="868680" y="5120640"/>
            <a:ext cx="10515600" cy="1005840"/>
          </a:xfrm>
          <a:prstGeom prst="rect">
            <a:avLst/>
          </a:prstGeom>
          <a:noFill/>
          <a:ln/>
        </p:spPr>
        <p:txBody>
          <a:bodyPr wrap="square" lIns="0" tIns="0" rIns="0" bIns="0" rtlCol="0" anchor="ctr"/>
          <a:lstStyle/>
          <a:p>
            <a:pPr indent="0" marL="0">
              <a:buNone/>
            </a:pPr>
            <a:r>
              <a:rPr lang="en-US" sz="1800" b="1" dirty="0">
                <a:solidFill>
                  <a:schemeClr val="accent1"/>
                </a:solidFill>
              </a:rPr>
              <a:t>The problem: </a:t>
            </a:r>
            <a:pPr indent="0" marL="0">
              <a:buNone/>
            </a:pPr>
            <a:r>
              <a:rPr lang="en-US" sz="1800" dirty="0">
                <a:solidFill>
                  <a:schemeClr val="bg1"/>
                </a:solidFill>
              </a:rPr>
              <a:t>online sellers lose most of their time finding clients and keeping their pages alive, instead of doing the work they’re good at.</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bg1"/>
                </a:solidFill>
              </a:rPr>
              <a:t>We are customer number one</a:t>
            </a:r>
            <a:endParaRPr lang="en-US" sz="3200" dirty="0"/>
          </a:p>
        </p:txBody>
      </p:sp>
      <p:sp>
        <p:nvSpPr>
          <p:cNvPr id="3" name="Text 1"/>
          <p:cNvSpPr txBox="1"/>
          <p:nvPr/>
        </p:nvSpPr>
        <p:spPr>
          <a:xfrm>
            <a:off x="548640" y="1371600"/>
            <a:ext cx="1097280" cy="1280160"/>
          </a:xfrm>
          <a:prstGeom prst="rect">
            <a:avLst/>
          </a:prstGeom>
          <a:noFill/>
          <a:ln/>
        </p:spPr>
        <p:txBody>
          <a:bodyPr wrap="square" lIns="0" tIns="0" rIns="0" bIns="0" rtlCol="0" anchor="ctr"/>
          <a:lstStyle/>
          <a:p>
            <a:pPr indent="0" marL="0">
              <a:buNone/>
            </a:pPr>
            <a:r>
              <a:rPr lang="en-US" sz="12000" b="1" dirty="0">
                <a:solidFill>
                  <a:schemeClr val="accent1"/>
                </a:solidFill>
              </a:rPr>
              <a:t>“</a:t>
            </a:r>
            <a:endParaRPr lang="en-US" sz="12000" dirty="0"/>
          </a:p>
        </p:txBody>
      </p:sp>
      <p:sp>
        <p:nvSpPr>
          <p:cNvPr id="4" name="Text 2"/>
          <p:cNvSpPr txBox="1"/>
          <p:nvPr/>
        </p:nvSpPr>
        <p:spPr>
          <a:xfrm>
            <a:off x="1463040" y="1737360"/>
            <a:ext cx="5669280" cy="2560320"/>
          </a:xfrm>
          <a:prstGeom prst="rect">
            <a:avLst/>
          </a:prstGeom>
          <a:noFill/>
          <a:ln/>
        </p:spPr>
        <p:txBody>
          <a:bodyPr wrap="square" lIns="0" tIns="0" rIns="0" bIns="0" rtlCol="0" anchor="t"/>
          <a:lstStyle/>
          <a:p>
            <a:pPr indent="0" marL="0">
              <a:buNone/>
            </a:pPr>
            <a:r>
              <a:rPr lang="en-US" sz="2400" dirty="0">
                <a:solidFill>
                  <a:schemeClr val="bg1"/>
                </a:solidFill>
              </a:rPr>
              <a:t>From Sulaimani, I make AI video ads for a US brand and get paid every month. Making the ads was never the hard part. Finding the next client and keeping posts going was.</a:t>
            </a:r>
            <a:endParaRPr lang="en-US" sz="2400" dirty="0"/>
          </a:p>
        </p:txBody>
      </p:sp>
      <p:sp>
        <p:nvSpPr>
          <p:cNvPr id="5" name="Text 3"/>
          <p:cNvSpPr txBox="1"/>
          <p:nvPr/>
        </p:nvSpPr>
        <p:spPr>
          <a:xfrm>
            <a:off x="1463040" y="3931920"/>
            <a:ext cx="5669280" cy="1097280"/>
          </a:xfrm>
          <a:prstGeom prst="rect">
            <a:avLst/>
          </a:prstGeom>
          <a:noFill/>
          <a:ln/>
        </p:spPr>
        <p:txBody>
          <a:bodyPr wrap="square" lIns="0" tIns="0" rIns="0" bIns="0" rtlCol="0" anchor="ctr"/>
          <a:lstStyle/>
          <a:p>
            <a:pPr indent="0" marL="0">
              <a:buNone/>
            </a:pPr>
            <a:r>
              <a:rPr lang="en-US" sz="1600" dirty="0">
                <a:solidFill>
                  <a:srgbClr val="C9D1E3"/>
                </a:solidFill>
              </a:rPr>
              <a:t>We don’t sell to shops that have never sold online. Our customers already earn online, so one client won pays for a year of Jump HQ.</a:t>
            </a:r>
            <a:endParaRPr lang="en-US" sz="1600" dirty="0"/>
          </a:p>
        </p:txBody>
      </p:sp>
      <p:sp>
        <p:nvSpPr>
          <p:cNvPr id="6" name="stat"/>
          <p:cNvSpPr/>
          <p:nvPr/>
        </p:nvSpPr>
        <p:spPr>
          <a:xfrm>
            <a:off x="7772400" y="1737360"/>
            <a:ext cx="3840480" cy="1737360"/>
          </a:xfrm>
          <a:prstGeom prst="roundRect">
            <a:avLst>
              <a:gd name="adj" fmla="val 6316"/>
            </a:avLst>
          </a:prstGeom>
          <a:solidFill>
            <a:schemeClr val="accent2"/>
          </a:solidFill>
          <a:ln w="12700">
            <a:solidFill>
              <a:schemeClr val="accent2"/>
            </a:solidFill>
            <a:prstDash val="solid"/>
          </a:ln>
          <a:effectLst>
            <a:outerShdw sx="100000" sy="100000" kx="0" ky="0" algn="bl" rotWithShape="0" blurRad="228600" dist="50800" dir="5400000">
              <a:srgbClr val="000000">
                <a:alpha val="25000"/>
              </a:srgbClr>
            </a:outerShdw>
          </a:effectLst>
        </p:spPr>
      </p:sp>
      <p:sp>
        <p:nvSpPr>
          <p:cNvPr id="7" name="Text 5"/>
          <p:cNvSpPr txBox="1"/>
          <p:nvPr/>
        </p:nvSpPr>
        <p:spPr>
          <a:xfrm>
            <a:off x="8092440" y="1828800"/>
            <a:ext cx="3291840" cy="914400"/>
          </a:xfrm>
          <a:prstGeom prst="rect">
            <a:avLst/>
          </a:prstGeom>
          <a:noFill/>
          <a:ln/>
        </p:spPr>
        <p:txBody>
          <a:bodyPr wrap="square" lIns="0" tIns="0" rIns="0" bIns="0" rtlCol="0" anchor="ctr"/>
          <a:lstStyle/>
          <a:p>
            <a:pPr indent="0" marL="0">
              <a:buNone/>
            </a:pPr>
            <a:r>
              <a:rPr lang="en-US" sz="6000" b="1" dirty="0">
                <a:solidFill>
                  <a:schemeClr val="accent1"/>
                </a:solidFill>
              </a:rPr>
              <a:t>1</a:t>
            </a:r>
            <a:endParaRPr lang="en-US" sz="6000" dirty="0"/>
          </a:p>
        </p:txBody>
      </p:sp>
      <p:sp>
        <p:nvSpPr>
          <p:cNvPr id="8" name="Text 6"/>
          <p:cNvSpPr txBox="1"/>
          <p:nvPr/>
        </p:nvSpPr>
        <p:spPr>
          <a:xfrm>
            <a:off x="8092440" y="2743200"/>
            <a:ext cx="3291840" cy="548640"/>
          </a:xfrm>
          <a:prstGeom prst="rect">
            <a:avLst/>
          </a:prstGeom>
          <a:noFill/>
          <a:ln/>
        </p:spPr>
        <p:txBody>
          <a:bodyPr wrap="square" lIns="0" tIns="0" rIns="0" bIns="0" rtlCol="0" anchor="ctr"/>
          <a:lstStyle/>
          <a:p>
            <a:pPr indent="0" marL="0">
              <a:buNone/>
            </a:pPr>
            <a:r>
              <a:rPr lang="en-US" sz="1500" dirty="0">
                <a:solidFill>
                  <a:srgbClr val="C9D1E3"/>
                </a:solidFill>
              </a:rPr>
              <a:t>client won pays for a year of Pro</a:t>
            </a:r>
            <a:endParaRPr lang="en-US" sz="1500" dirty="0"/>
          </a:p>
        </p:txBody>
      </p:sp>
      <p:sp>
        <p:nvSpPr>
          <p:cNvPr id="9" name="stat"/>
          <p:cNvSpPr/>
          <p:nvPr/>
        </p:nvSpPr>
        <p:spPr>
          <a:xfrm>
            <a:off x="7772400" y="3749040"/>
            <a:ext cx="3840480" cy="1737360"/>
          </a:xfrm>
          <a:prstGeom prst="roundRect">
            <a:avLst>
              <a:gd name="adj" fmla="val 6316"/>
            </a:avLst>
          </a:prstGeom>
          <a:solidFill>
            <a:schemeClr val="accent2"/>
          </a:solidFill>
          <a:ln w="12700">
            <a:solidFill>
              <a:schemeClr val="accent2"/>
            </a:solidFill>
            <a:prstDash val="solid"/>
          </a:ln>
          <a:effectLst>
            <a:outerShdw sx="100000" sy="100000" kx="0" ky="0" algn="bl" rotWithShape="0" blurRad="228600" dist="50800" dir="5400000">
              <a:srgbClr val="000000">
                <a:alpha val="25000"/>
              </a:srgbClr>
            </a:outerShdw>
          </a:effectLst>
        </p:spPr>
      </p:sp>
      <p:sp>
        <p:nvSpPr>
          <p:cNvPr id="10" name="Text 8"/>
          <p:cNvSpPr txBox="1"/>
          <p:nvPr/>
        </p:nvSpPr>
        <p:spPr>
          <a:xfrm>
            <a:off x="8092440" y="3840480"/>
            <a:ext cx="3291840" cy="914400"/>
          </a:xfrm>
          <a:prstGeom prst="rect">
            <a:avLst/>
          </a:prstGeom>
          <a:noFill/>
          <a:ln/>
        </p:spPr>
        <p:txBody>
          <a:bodyPr wrap="square" lIns="0" tIns="0" rIns="0" bIns="0" rtlCol="0" anchor="ctr"/>
          <a:lstStyle/>
          <a:p>
            <a:pPr indent="0" marL="0">
              <a:buNone/>
            </a:pPr>
            <a:r>
              <a:rPr lang="en-US" sz="6000" b="1" dirty="0">
                <a:solidFill>
                  <a:schemeClr val="accent1"/>
                </a:solidFill>
              </a:rPr>
              <a:t>24/7</a:t>
            </a:r>
            <a:endParaRPr lang="en-US" sz="6000" dirty="0"/>
          </a:p>
        </p:txBody>
      </p:sp>
      <p:sp>
        <p:nvSpPr>
          <p:cNvPr id="11" name="Text 9"/>
          <p:cNvSpPr txBox="1"/>
          <p:nvPr/>
        </p:nvSpPr>
        <p:spPr>
          <a:xfrm>
            <a:off x="8092440" y="4754880"/>
            <a:ext cx="3291840" cy="548640"/>
          </a:xfrm>
          <a:prstGeom prst="rect">
            <a:avLst/>
          </a:prstGeom>
          <a:noFill/>
          <a:ln/>
        </p:spPr>
        <p:txBody>
          <a:bodyPr wrap="square" lIns="0" tIns="0" rIns="0" bIns="0" rtlCol="0" anchor="ctr"/>
          <a:lstStyle/>
          <a:p>
            <a:pPr indent="0" marL="0">
              <a:buNone/>
            </a:pPr>
            <a:r>
              <a:rPr lang="en-US" sz="1500" dirty="0">
                <a:solidFill>
                  <a:srgbClr val="C9D1E3"/>
                </a:solidFill>
              </a:rPr>
              <a:t>your team works, even while you sleep</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Two modes, one AI team, you only approve</a:t>
            </a:r>
            <a:endParaRPr lang="en-US" sz="3200" dirty="0"/>
          </a:p>
        </p:txBody>
      </p:sp>
      <p:sp>
        <p:nvSpPr>
          <p:cNvPr id="3" name="Text 1"/>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800" dirty="0">
                <a:solidFill>
                  <a:schemeClr val="accent5"/>
                </a:solidFill>
              </a:rPr>
              <a:t>A 2-minute setup chat tells Jump HQ what you sell. Every agent adapts: search, scoring, sample, message and price.</a:t>
            </a:r>
            <a:endParaRPr lang="en-US" sz="1800" dirty="0"/>
          </a:p>
        </p:txBody>
      </p:sp>
      <p:sp>
        <p:nvSpPr>
          <p:cNvPr id="4" name="card"/>
          <p:cNvSpPr/>
          <p:nvPr/>
        </p:nvSpPr>
        <p:spPr>
          <a:xfrm>
            <a:off x="548640" y="2011680"/>
            <a:ext cx="3703320" cy="4023360"/>
          </a:xfrm>
          <a:prstGeom prst="roundRect">
            <a:avLst>
              <a:gd name="adj" fmla="val 2963"/>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5" name="icon circle"/>
          <p:cNvSpPr/>
          <p:nvPr/>
        </p:nvSpPr>
        <p:spPr>
          <a:xfrm>
            <a:off x="868680" y="2286000"/>
            <a:ext cx="566928" cy="566928"/>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993404" y="2410724"/>
            <a:ext cx="317480" cy="317480"/>
          </a:xfrm>
          <a:prstGeom prst="rect">
            <a:avLst/>
          </a:prstGeom>
        </p:spPr>
      </p:pic>
      <p:sp>
        <p:nvSpPr>
          <p:cNvPr id="7" name="Text 4"/>
          <p:cNvSpPr txBox="1"/>
          <p:nvPr/>
        </p:nvSpPr>
        <p:spPr>
          <a:xfrm>
            <a:off x="1600200" y="2240280"/>
            <a:ext cx="2377440" cy="274320"/>
          </a:xfrm>
          <a:prstGeom prst="rect">
            <a:avLst/>
          </a:prstGeom>
          <a:noFill/>
          <a:ln/>
        </p:spPr>
        <p:txBody>
          <a:bodyPr wrap="square" lIns="0" tIns="0" rIns="0" bIns="0" rtlCol="0" anchor="ctr"/>
          <a:lstStyle/>
          <a:p>
            <a:pPr indent="0" marL="0">
              <a:buNone/>
            </a:pPr>
            <a:r>
              <a:rPr lang="en-US" sz="1200" b="1" dirty="0">
                <a:solidFill>
                  <a:schemeClr val="accent1"/>
                </a:solidFill>
              </a:rPr>
              <a:t>Mode 1</a:t>
            </a:r>
            <a:endParaRPr lang="en-US" sz="1200" dirty="0"/>
          </a:p>
        </p:txBody>
      </p:sp>
      <p:sp>
        <p:nvSpPr>
          <p:cNvPr id="8" name="Text 5"/>
          <p:cNvSpPr txBox="1"/>
          <p:nvPr/>
        </p:nvSpPr>
        <p:spPr>
          <a:xfrm>
            <a:off x="1600200" y="2514600"/>
            <a:ext cx="2560320" cy="411480"/>
          </a:xfrm>
          <a:prstGeom prst="rect">
            <a:avLst/>
          </a:prstGeom>
          <a:noFill/>
          <a:ln/>
        </p:spPr>
        <p:txBody>
          <a:bodyPr wrap="square" lIns="0" tIns="0" rIns="0" bIns="0" rtlCol="0" anchor="ctr"/>
          <a:lstStyle/>
          <a:p>
            <a:pPr indent="0" marL="0">
              <a:buNone/>
            </a:pPr>
            <a:r>
              <a:rPr lang="en-US" sz="2200" b="1" dirty="0">
                <a:solidFill>
                  <a:schemeClr val="tx1"/>
                </a:solidFill>
              </a:rPr>
              <a:t>Find clients</a:t>
            </a:r>
            <a:endParaRPr lang="en-US" sz="2200" dirty="0"/>
          </a:p>
        </p:txBody>
      </p:sp>
      <p:sp>
        <p:nvSpPr>
          <p:cNvPr id="9" name="Text 6"/>
          <p:cNvSpPr txBox="1"/>
          <p:nvPr/>
        </p:nvSpPr>
        <p:spPr>
          <a:xfrm>
            <a:off x="868680" y="315468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5"/>
                </a:solidFill>
              </a:rPr>
              <a:t>Finds people and businesses who need what you sell</a:t>
            </a:r>
            <a:endParaRPr lang="en-US" sz="1500" dirty="0"/>
          </a:p>
          <a:p>
            <a:pPr marL="342900" indent="-342900">
              <a:spcAft>
                <a:spcPts val="800"/>
              </a:spcAft>
              <a:buSzPct val="100000"/>
              <a:buChar char="•"/>
            </a:pPr>
            <a:r>
              <a:rPr lang="en-US" sz="1500" dirty="0">
                <a:solidFill>
                  <a:schemeClr val="accent5"/>
                </a:solidFill>
              </a:rPr>
              <a:t>Proves they’re real and scores who will pay</a:t>
            </a:r>
            <a:endParaRPr lang="en-US" sz="1500" dirty="0"/>
          </a:p>
          <a:p>
            <a:pPr marL="342900" indent="-342900">
              <a:spcAft>
                <a:spcPts val="800"/>
              </a:spcAft>
              <a:buSzPct val="100000"/>
              <a:buChar char="•"/>
            </a:pPr>
            <a:r>
              <a:rPr lang="en-US" sz="1500" dirty="0">
                <a:solidFill>
                  <a:schemeClr val="accent5"/>
                </a:solidFill>
              </a:rPr>
              <a:t>Makes each one a free sample of your work</a:t>
            </a:r>
            <a:endParaRPr lang="en-US" sz="1500" dirty="0"/>
          </a:p>
          <a:p>
            <a:pPr marL="342900" indent="-342900">
              <a:spcAft>
                <a:spcPts val="800"/>
              </a:spcAft>
              <a:buSzPct val="100000"/>
              <a:buChar char="•"/>
            </a:pPr>
            <a:r>
              <a:rPr lang="en-US" sz="1500" dirty="0">
                <a:solidFill>
                  <a:schemeClr val="accent5"/>
                </a:solidFill>
              </a:rPr>
              <a:t>Writes the WhatsApp message in Sorani</a:t>
            </a:r>
            <a:endParaRPr lang="en-US" sz="1500" dirty="0"/>
          </a:p>
        </p:txBody>
      </p:sp>
      <p:sp>
        <p:nvSpPr>
          <p:cNvPr id="10" name="card"/>
          <p:cNvSpPr/>
          <p:nvPr/>
        </p:nvSpPr>
        <p:spPr>
          <a:xfrm>
            <a:off x="4434840" y="2011680"/>
            <a:ext cx="3703320" cy="4023360"/>
          </a:xfrm>
          <a:prstGeom prst="roundRect">
            <a:avLst>
              <a:gd name="adj" fmla="val 2963"/>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1" name="icon circle"/>
          <p:cNvSpPr/>
          <p:nvPr/>
        </p:nvSpPr>
        <p:spPr>
          <a:xfrm>
            <a:off x="4754880" y="2286000"/>
            <a:ext cx="566928" cy="566928"/>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2"/>
          <a:stretch>
            <a:fillRect/>
          </a:stretch>
        </p:blipFill>
        <p:spPr>
          <a:xfrm>
            <a:off x="4879604" y="2410724"/>
            <a:ext cx="317480" cy="317480"/>
          </a:xfrm>
          <a:prstGeom prst="rect">
            <a:avLst/>
          </a:prstGeom>
        </p:spPr>
      </p:pic>
      <p:sp>
        <p:nvSpPr>
          <p:cNvPr id="13" name="Text 9"/>
          <p:cNvSpPr txBox="1"/>
          <p:nvPr/>
        </p:nvSpPr>
        <p:spPr>
          <a:xfrm>
            <a:off x="5486400" y="2240280"/>
            <a:ext cx="2377440" cy="274320"/>
          </a:xfrm>
          <a:prstGeom prst="rect">
            <a:avLst/>
          </a:prstGeom>
          <a:noFill/>
          <a:ln/>
        </p:spPr>
        <p:txBody>
          <a:bodyPr wrap="square" lIns="0" tIns="0" rIns="0" bIns="0" rtlCol="0" anchor="ctr"/>
          <a:lstStyle/>
          <a:p>
            <a:pPr indent="0" marL="0">
              <a:buNone/>
            </a:pPr>
            <a:r>
              <a:rPr lang="en-US" sz="1200" b="1" dirty="0">
                <a:solidFill>
                  <a:schemeClr val="accent1"/>
                </a:solidFill>
              </a:rPr>
              <a:t>Mode 2</a:t>
            </a:r>
            <a:endParaRPr lang="en-US" sz="1200" dirty="0"/>
          </a:p>
        </p:txBody>
      </p:sp>
      <p:sp>
        <p:nvSpPr>
          <p:cNvPr id="14" name="Text 10"/>
          <p:cNvSpPr txBox="1"/>
          <p:nvPr/>
        </p:nvSpPr>
        <p:spPr>
          <a:xfrm>
            <a:off x="5486400" y="2514600"/>
            <a:ext cx="2560320" cy="411480"/>
          </a:xfrm>
          <a:prstGeom prst="rect">
            <a:avLst/>
          </a:prstGeom>
          <a:noFill/>
          <a:ln/>
        </p:spPr>
        <p:txBody>
          <a:bodyPr wrap="square" lIns="0" tIns="0" rIns="0" bIns="0" rtlCol="0" anchor="ctr"/>
          <a:lstStyle/>
          <a:p>
            <a:pPr indent="0" marL="0">
              <a:buNone/>
            </a:pPr>
            <a:r>
              <a:rPr lang="en-US" sz="2200" b="1" dirty="0">
                <a:solidFill>
                  <a:schemeClr val="tx1"/>
                </a:solidFill>
              </a:rPr>
              <a:t>Grow your pages</a:t>
            </a:r>
            <a:endParaRPr lang="en-US" sz="2200" dirty="0"/>
          </a:p>
        </p:txBody>
      </p:sp>
      <p:sp>
        <p:nvSpPr>
          <p:cNvPr id="15" name="Text 11"/>
          <p:cNvSpPr txBox="1"/>
          <p:nvPr/>
        </p:nvSpPr>
        <p:spPr>
          <a:xfrm>
            <a:off x="4754880" y="315468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5"/>
                </a:solidFill>
              </a:rPr>
              <a:t>Plans your posts from what works in your niche</a:t>
            </a:r>
            <a:endParaRPr lang="en-US" sz="1500" dirty="0"/>
          </a:p>
          <a:p>
            <a:pPr marL="342900" indent="-342900">
              <a:spcAft>
                <a:spcPts val="800"/>
              </a:spcAft>
              <a:buSzPct val="100000"/>
              <a:buChar char="•"/>
            </a:pPr>
            <a:r>
              <a:rPr lang="en-US" sz="1500" dirty="0">
                <a:solidFill>
                  <a:schemeClr val="accent5"/>
                </a:solidFill>
              </a:rPr>
              <a:t>Makes picture posts and short vertical videos</a:t>
            </a:r>
            <a:endParaRPr lang="en-US" sz="1500" dirty="0"/>
          </a:p>
          <a:p>
            <a:pPr marL="342900" indent="-342900">
              <a:spcAft>
                <a:spcPts val="800"/>
              </a:spcAft>
              <a:buSzPct val="100000"/>
              <a:buChar char="•"/>
            </a:pPr>
            <a:r>
              <a:rPr lang="en-US" sz="1500" dirty="0">
                <a:solidFill>
                  <a:schemeClr val="accent5"/>
                </a:solidFill>
              </a:rPr>
              <a:t>Kurdish and Arabic fully right-to-left</a:t>
            </a:r>
            <a:endParaRPr lang="en-US" sz="1500" dirty="0"/>
          </a:p>
          <a:p>
            <a:pPr marL="342900" indent="-342900">
              <a:spcAft>
                <a:spcPts val="800"/>
              </a:spcAft>
              <a:buSzPct val="100000"/>
              <a:buChar char="•"/>
            </a:pPr>
            <a:r>
              <a:rPr lang="en-US" sz="1500" dirty="0">
                <a:solidFill>
                  <a:schemeClr val="accent5"/>
                </a:solidFill>
              </a:rPr>
              <a:t>Posts on time to Facebook and Telegram</a:t>
            </a:r>
            <a:endParaRPr lang="en-US" sz="1500" dirty="0"/>
          </a:p>
        </p:txBody>
      </p:sp>
      <p:sp>
        <p:nvSpPr>
          <p:cNvPr id="16" name="judge card"/>
          <p:cNvSpPr/>
          <p:nvPr/>
        </p:nvSpPr>
        <p:spPr>
          <a:xfrm>
            <a:off x="8321040" y="2011680"/>
            <a:ext cx="3291840" cy="4023360"/>
          </a:xfrm>
          <a:prstGeom prst="roundRect">
            <a:avLst>
              <a:gd name="adj" fmla="val 3333"/>
            </a:avLst>
          </a:prstGeom>
          <a:solidFill>
            <a:schemeClr val="tx2"/>
          </a:solidFill>
          <a:ln w="12700">
            <a:solidFill>
              <a:schemeClr val="tx2"/>
            </a:solidFill>
            <a:prstDash val="solid"/>
          </a:ln>
          <a:effectLst>
            <a:outerShdw sx="100000" sy="100000" kx="0" ky="0" algn="bl" rotWithShape="0" blurRad="228600" dist="50800" dir="5400000">
              <a:srgbClr val="000000">
                <a:alpha val="25000"/>
              </a:srgbClr>
            </a:outerShdw>
          </a:effectLst>
        </p:spPr>
      </p:sp>
      <p:sp>
        <p:nvSpPr>
          <p:cNvPr id="17" name="icon circle"/>
          <p:cNvSpPr/>
          <p:nvPr/>
        </p:nvSpPr>
        <p:spPr>
          <a:xfrm>
            <a:off x="8641080" y="2286000"/>
            <a:ext cx="566928" cy="566928"/>
          </a:xfrm>
          <a:prstGeom prst="ellipse">
            <a:avLst/>
          </a:prstGeom>
          <a:solidFill>
            <a:schemeClr val="accent1"/>
          </a:solidFill>
          <a:ln w="12700">
            <a:solidFill>
              <a:schemeClr val="accent1"/>
            </a:solidFill>
            <a:prstDash val="solid"/>
          </a:ln>
        </p:spPr>
      </p:sp>
      <p:pic>
        <p:nvPicPr>
          <p:cNvPr id="18" name="icon" descr="preencoded.png">    </p:cNvPr>
          <p:cNvPicPr>
            <a:picLocks noChangeAspect="1"/>
          </p:cNvPicPr>
          <p:nvPr/>
        </p:nvPicPr>
        <p:blipFill>
          <a:blip r:embed="rId3"/>
          <a:stretch>
            <a:fillRect/>
          </a:stretch>
        </p:blipFill>
        <p:spPr>
          <a:xfrm>
            <a:off x="8765804" y="2410724"/>
            <a:ext cx="317480" cy="317480"/>
          </a:xfrm>
          <a:prstGeom prst="rect">
            <a:avLst/>
          </a:prstGeom>
        </p:spPr>
      </p:pic>
      <p:sp>
        <p:nvSpPr>
          <p:cNvPr id="19" name="Text 14"/>
          <p:cNvSpPr txBox="1"/>
          <p:nvPr/>
        </p:nvSpPr>
        <p:spPr>
          <a:xfrm>
            <a:off x="8641080" y="3017520"/>
            <a:ext cx="2743200" cy="457200"/>
          </a:xfrm>
          <a:prstGeom prst="rect">
            <a:avLst/>
          </a:prstGeom>
          <a:noFill/>
          <a:ln/>
        </p:spPr>
        <p:txBody>
          <a:bodyPr wrap="square" lIns="0" tIns="0" rIns="0" bIns="0" rtlCol="0" anchor="ctr"/>
          <a:lstStyle/>
          <a:p>
            <a:pPr indent="0" marL="0">
              <a:buNone/>
            </a:pPr>
            <a:r>
              <a:rPr lang="en-US" sz="2200" b="1" dirty="0">
                <a:solidFill>
                  <a:schemeClr val="bg1"/>
                </a:solidFill>
              </a:rPr>
              <a:t>The AI Judge</a:t>
            </a:r>
            <a:endParaRPr lang="en-US" sz="2200" dirty="0"/>
          </a:p>
        </p:txBody>
      </p:sp>
      <p:sp>
        <p:nvSpPr>
          <p:cNvPr id="20" name="Text 15"/>
          <p:cNvSpPr txBox="1"/>
          <p:nvPr/>
        </p:nvSpPr>
        <p:spPr>
          <a:xfrm>
            <a:off x="8641080" y="3520440"/>
            <a:ext cx="2697480" cy="1554480"/>
          </a:xfrm>
          <a:prstGeom prst="rect">
            <a:avLst/>
          </a:prstGeom>
          <a:noFill/>
          <a:ln/>
        </p:spPr>
        <p:txBody>
          <a:bodyPr wrap="square" lIns="0" tIns="0" rIns="0" bIns="0" rtlCol="0" anchor="t"/>
          <a:lstStyle/>
          <a:p>
            <a:pPr indent="0" marL="0">
              <a:buNone/>
            </a:pPr>
            <a:r>
              <a:rPr lang="en-US" sz="1500" dirty="0">
                <a:solidFill>
                  <a:srgbClr val="C9D1E3"/>
                </a:solidFill>
              </a:rPr>
              <a:t>Checks every sample, message and post before it can leave: rules in code, then an independent AI review against verified facts.</a:t>
            </a:r>
            <a:endParaRPr lang="en-US" sz="1500" dirty="0"/>
          </a:p>
        </p:txBody>
      </p:sp>
      <p:sp>
        <p:nvSpPr>
          <p:cNvPr id="21" name="Text 16"/>
          <p:cNvSpPr txBox="1"/>
          <p:nvPr/>
        </p:nvSpPr>
        <p:spPr>
          <a:xfrm>
            <a:off x="8641080" y="5257800"/>
            <a:ext cx="2743200" cy="365760"/>
          </a:xfrm>
          <a:prstGeom prst="rect">
            <a:avLst/>
          </a:prstGeom>
          <a:noFill/>
          <a:ln/>
        </p:spPr>
        <p:txBody>
          <a:bodyPr wrap="square" lIns="0" tIns="0" rIns="0" bIns="0" rtlCol="0" anchor="ctr"/>
          <a:lstStyle/>
          <a:p>
            <a:pPr indent="0" marL="0">
              <a:buNone/>
            </a:pPr>
            <a:r>
              <a:rPr lang="en-US" sz="1500" b="1" dirty="0">
                <a:solidFill>
                  <a:schemeClr val="accent1"/>
                </a:solidFill>
              </a:rPr>
              <a:t>approve · revise · hold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Mode 1: Find clients, step by step</a:t>
            </a:r>
            <a:endParaRPr lang="en-US" sz="3200" dirty="0"/>
          </a:p>
        </p:txBody>
      </p:sp>
      <p:sp>
        <p:nvSpPr>
          <p:cNvPr id="3" name="Text 1"/>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800" dirty="0">
                <a:solidFill>
                  <a:schemeClr val="accent5"/>
                </a:solidFill>
              </a:rPr>
              <a:t>Each step is its own AI agent. A Team lead turns plain orders into work for the right agent.</a:t>
            </a:r>
            <a:endParaRPr lang="en-US" sz="1800" dirty="0"/>
          </a:p>
        </p:txBody>
      </p:sp>
      <p:sp>
        <p:nvSpPr>
          <p:cNvPr id="4" name="card"/>
          <p:cNvSpPr/>
          <p:nvPr/>
        </p:nvSpPr>
        <p:spPr>
          <a:xfrm>
            <a:off x="548640" y="2057400"/>
            <a:ext cx="1737360" cy="3246120"/>
          </a:xfrm>
          <a:prstGeom prst="roundRect">
            <a:avLst>
              <a:gd name="adj" fmla="val 631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5" name="icon circle"/>
          <p:cNvSpPr/>
          <p:nvPr/>
        </p:nvSpPr>
        <p:spPr>
          <a:xfrm>
            <a:off x="777240" y="2286000"/>
            <a:ext cx="566928" cy="566928"/>
          </a:xfrm>
          <a:prstGeom prst="ellipse">
            <a:avLst/>
          </a:prstGeom>
          <a:solidFill>
            <a:schemeClr val="tx2"/>
          </a:solidFill>
          <a:ln w="12700">
            <a:solidFill>
              <a:schemeClr val="tx2"/>
            </a:solidFill>
            <a:prstDash val="solid"/>
          </a:ln>
        </p:spPr>
      </p:sp>
      <p:pic>
        <p:nvPicPr>
          <p:cNvPr id="6" name="icon" descr="preencoded.png">    </p:cNvPr>
          <p:cNvPicPr>
            <a:picLocks noChangeAspect="1"/>
          </p:cNvPicPr>
          <p:nvPr/>
        </p:nvPicPr>
        <p:blipFill>
          <a:blip r:embed="rId1"/>
          <a:stretch>
            <a:fillRect/>
          </a:stretch>
        </p:blipFill>
        <p:spPr>
          <a:xfrm>
            <a:off x="901964" y="2410724"/>
            <a:ext cx="317480" cy="317480"/>
          </a:xfrm>
          <a:prstGeom prst="rect">
            <a:avLst/>
          </a:prstGeom>
        </p:spPr>
      </p:pic>
      <p:sp>
        <p:nvSpPr>
          <p:cNvPr id="7" name="Text 4"/>
          <p:cNvSpPr txBox="1"/>
          <p:nvPr/>
        </p:nvSpPr>
        <p:spPr>
          <a:xfrm>
            <a:off x="1737360" y="2286000"/>
            <a:ext cx="365760" cy="365760"/>
          </a:xfrm>
          <a:prstGeom prst="rect">
            <a:avLst/>
          </a:prstGeom>
          <a:noFill/>
          <a:ln/>
        </p:spPr>
        <p:txBody>
          <a:bodyPr wrap="square" lIns="0" tIns="0" rIns="0" bIns="0" rtlCol="0" anchor="ctr"/>
          <a:lstStyle/>
          <a:p>
            <a:pPr algn="r" indent="0" marL="0">
              <a:buNone/>
            </a:pPr>
            <a:r>
              <a:rPr lang="en-US" sz="1400" b="1" dirty="0">
                <a:solidFill>
                  <a:schemeClr val="accent1"/>
                </a:solidFill>
              </a:rPr>
              <a:t>1</a:t>
            </a:r>
            <a:endParaRPr lang="en-US" sz="1400" dirty="0"/>
          </a:p>
        </p:txBody>
      </p:sp>
      <p:sp>
        <p:nvSpPr>
          <p:cNvPr id="8" name="Text 5"/>
          <p:cNvSpPr txBox="1"/>
          <p:nvPr/>
        </p:nvSpPr>
        <p:spPr>
          <a:xfrm>
            <a:off x="777240" y="2971800"/>
            <a:ext cx="1371600" cy="411480"/>
          </a:xfrm>
          <a:prstGeom prst="rect">
            <a:avLst/>
          </a:prstGeom>
          <a:noFill/>
          <a:ln/>
        </p:spPr>
        <p:txBody>
          <a:bodyPr wrap="square" lIns="0" tIns="0" rIns="0" bIns="0" rtlCol="0" anchor="ctr"/>
          <a:lstStyle/>
          <a:p>
            <a:pPr indent="0" marL="0">
              <a:buNone/>
            </a:pPr>
            <a:r>
              <a:rPr lang="en-US" sz="1800" b="1" dirty="0">
                <a:solidFill>
                  <a:schemeClr val="tx1"/>
                </a:solidFill>
              </a:rPr>
              <a:t>Scout</a:t>
            </a:r>
            <a:endParaRPr lang="en-US" sz="1800" dirty="0"/>
          </a:p>
        </p:txBody>
      </p:sp>
      <p:sp>
        <p:nvSpPr>
          <p:cNvPr id="9" name="Text 6"/>
          <p:cNvSpPr txBox="1"/>
          <p:nvPr/>
        </p:nvSpPr>
        <p:spPr>
          <a:xfrm>
            <a:off x="777240" y="3429000"/>
            <a:ext cx="1371600" cy="1783080"/>
          </a:xfrm>
          <a:prstGeom prst="rect">
            <a:avLst/>
          </a:prstGeom>
          <a:noFill/>
          <a:ln/>
        </p:spPr>
        <p:txBody>
          <a:bodyPr wrap="square" lIns="0" tIns="0" rIns="0" bIns="0" rtlCol="0" anchor="t"/>
          <a:lstStyle/>
          <a:p>
            <a:pPr indent="0" marL="0">
              <a:buNone/>
            </a:pPr>
            <a:r>
              <a:rPr lang="en-US" sz="1300" dirty="0">
                <a:solidFill>
                  <a:schemeClr val="accent5"/>
                </a:solidFill>
              </a:rPr>
              <a:t>Buying signals in 3 languages: people asking for your service, brands paying for weak ads, quiet shop pages</a:t>
            </a:r>
            <a:endParaRPr lang="en-US" sz="1300" dirty="0"/>
          </a:p>
        </p:txBody>
      </p:sp>
      <p:sp>
        <p:nvSpPr>
          <p:cNvPr id="10" name="card"/>
          <p:cNvSpPr/>
          <p:nvPr/>
        </p:nvSpPr>
        <p:spPr>
          <a:xfrm>
            <a:off x="2414016" y="2057400"/>
            <a:ext cx="1737360" cy="3246120"/>
          </a:xfrm>
          <a:prstGeom prst="roundRect">
            <a:avLst>
              <a:gd name="adj" fmla="val 631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1" name="icon circle"/>
          <p:cNvSpPr/>
          <p:nvPr/>
        </p:nvSpPr>
        <p:spPr>
          <a:xfrm>
            <a:off x="2642616" y="2286000"/>
            <a:ext cx="566928" cy="566928"/>
          </a:xfrm>
          <a:prstGeom prst="ellipse">
            <a:avLst/>
          </a:prstGeom>
          <a:solidFill>
            <a:schemeClr val="tx2"/>
          </a:solidFill>
          <a:ln w="12700">
            <a:solidFill>
              <a:schemeClr val="tx2"/>
            </a:solidFill>
            <a:prstDash val="solid"/>
          </a:ln>
        </p:spPr>
      </p:sp>
      <p:pic>
        <p:nvPicPr>
          <p:cNvPr id="12" name="icon" descr="preencoded.png">    </p:cNvPr>
          <p:cNvPicPr>
            <a:picLocks noChangeAspect="1"/>
          </p:cNvPicPr>
          <p:nvPr/>
        </p:nvPicPr>
        <p:blipFill>
          <a:blip r:embed="rId2"/>
          <a:stretch>
            <a:fillRect/>
          </a:stretch>
        </p:blipFill>
        <p:spPr>
          <a:xfrm>
            <a:off x="2767340" y="2410724"/>
            <a:ext cx="317480" cy="317480"/>
          </a:xfrm>
          <a:prstGeom prst="rect">
            <a:avLst/>
          </a:prstGeom>
        </p:spPr>
      </p:pic>
      <p:sp>
        <p:nvSpPr>
          <p:cNvPr id="13" name="Text 9"/>
          <p:cNvSpPr txBox="1"/>
          <p:nvPr/>
        </p:nvSpPr>
        <p:spPr>
          <a:xfrm>
            <a:off x="3602736" y="2286000"/>
            <a:ext cx="365760" cy="365760"/>
          </a:xfrm>
          <a:prstGeom prst="rect">
            <a:avLst/>
          </a:prstGeom>
          <a:noFill/>
          <a:ln/>
        </p:spPr>
        <p:txBody>
          <a:bodyPr wrap="square" lIns="0" tIns="0" rIns="0" bIns="0" rtlCol="0" anchor="ctr"/>
          <a:lstStyle/>
          <a:p>
            <a:pPr algn="r" indent="0" marL="0">
              <a:buNone/>
            </a:pPr>
            <a:r>
              <a:rPr lang="en-US" sz="1400" b="1" dirty="0">
                <a:solidFill>
                  <a:schemeClr val="accent1"/>
                </a:solidFill>
              </a:rPr>
              <a:t>2</a:t>
            </a:r>
            <a:endParaRPr lang="en-US" sz="1400" dirty="0"/>
          </a:p>
        </p:txBody>
      </p:sp>
      <p:sp>
        <p:nvSpPr>
          <p:cNvPr id="14" name="Text 10"/>
          <p:cNvSpPr txBox="1"/>
          <p:nvPr/>
        </p:nvSpPr>
        <p:spPr>
          <a:xfrm>
            <a:off x="2642616" y="2971800"/>
            <a:ext cx="1371600" cy="411480"/>
          </a:xfrm>
          <a:prstGeom prst="rect">
            <a:avLst/>
          </a:prstGeom>
          <a:noFill/>
          <a:ln/>
        </p:spPr>
        <p:txBody>
          <a:bodyPr wrap="square" lIns="0" tIns="0" rIns="0" bIns="0" rtlCol="0" anchor="ctr"/>
          <a:lstStyle/>
          <a:p>
            <a:pPr indent="0" marL="0">
              <a:buNone/>
            </a:pPr>
            <a:r>
              <a:rPr lang="en-US" sz="1800" b="1" dirty="0">
                <a:solidFill>
                  <a:schemeClr val="tx1"/>
                </a:solidFill>
              </a:rPr>
              <a:t>Investigator</a:t>
            </a:r>
            <a:endParaRPr lang="en-US" sz="1800" dirty="0"/>
          </a:p>
        </p:txBody>
      </p:sp>
      <p:sp>
        <p:nvSpPr>
          <p:cNvPr id="15" name="Text 11"/>
          <p:cNvSpPr txBox="1"/>
          <p:nvPr/>
        </p:nvSpPr>
        <p:spPr>
          <a:xfrm>
            <a:off x="2642616" y="3429000"/>
            <a:ext cx="1371600" cy="1783080"/>
          </a:xfrm>
          <a:prstGeom prst="rect">
            <a:avLst/>
          </a:prstGeom>
          <a:noFill/>
          <a:ln/>
        </p:spPr>
        <p:txBody>
          <a:bodyPr wrap="square" lIns="0" tIns="0" rIns="0" bIns="0" rtlCol="0" anchor="t"/>
          <a:lstStyle/>
          <a:p>
            <a:pPr indent="0" marL="0">
              <a:buNone/>
            </a:pPr>
            <a:r>
              <a:rPr lang="en-US" sz="1300" dirty="0">
                <a:solidFill>
                  <a:schemeClr val="accent5"/>
                </a:solidFill>
              </a:rPr>
              <a:t>Proves they’re real: followers, recent posts, public contact. Facts marked verified or assumed</a:t>
            </a:r>
            <a:endParaRPr lang="en-US" sz="1300" dirty="0"/>
          </a:p>
        </p:txBody>
      </p:sp>
      <p:sp>
        <p:nvSpPr>
          <p:cNvPr id="16" name="card"/>
          <p:cNvSpPr/>
          <p:nvPr/>
        </p:nvSpPr>
        <p:spPr>
          <a:xfrm>
            <a:off x="4279392" y="2057400"/>
            <a:ext cx="1737360" cy="3246120"/>
          </a:xfrm>
          <a:prstGeom prst="roundRect">
            <a:avLst>
              <a:gd name="adj" fmla="val 631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7" name="icon circle"/>
          <p:cNvSpPr/>
          <p:nvPr/>
        </p:nvSpPr>
        <p:spPr>
          <a:xfrm>
            <a:off x="4507992" y="2286000"/>
            <a:ext cx="566928" cy="566928"/>
          </a:xfrm>
          <a:prstGeom prst="ellipse">
            <a:avLst/>
          </a:prstGeom>
          <a:solidFill>
            <a:schemeClr val="tx2"/>
          </a:solidFill>
          <a:ln w="12700">
            <a:solidFill>
              <a:schemeClr val="tx2"/>
            </a:solidFill>
            <a:prstDash val="solid"/>
          </a:ln>
        </p:spPr>
      </p:sp>
      <p:pic>
        <p:nvPicPr>
          <p:cNvPr id="18" name="icon" descr="preencoded.png">    </p:cNvPr>
          <p:cNvPicPr>
            <a:picLocks noChangeAspect="1"/>
          </p:cNvPicPr>
          <p:nvPr/>
        </p:nvPicPr>
        <p:blipFill>
          <a:blip r:embed="rId3"/>
          <a:stretch>
            <a:fillRect/>
          </a:stretch>
        </p:blipFill>
        <p:spPr>
          <a:xfrm>
            <a:off x="4632716" y="2410724"/>
            <a:ext cx="317480" cy="317480"/>
          </a:xfrm>
          <a:prstGeom prst="rect">
            <a:avLst/>
          </a:prstGeom>
        </p:spPr>
      </p:pic>
      <p:sp>
        <p:nvSpPr>
          <p:cNvPr id="19" name="Text 14"/>
          <p:cNvSpPr txBox="1"/>
          <p:nvPr/>
        </p:nvSpPr>
        <p:spPr>
          <a:xfrm>
            <a:off x="5468112" y="2286000"/>
            <a:ext cx="365760" cy="365760"/>
          </a:xfrm>
          <a:prstGeom prst="rect">
            <a:avLst/>
          </a:prstGeom>
          <a:noFill/>
          <a:ln/>
        </p:spPr>
        <p:txBody>
          <a:bodyPr wrap="square" lIns="0" tIns="0" rIns="0" bIns="0" rtlCol="0" anchor="ctr"/>
          <a:lstStyle/>
          <a:p>
            <a:pPr algn="r" indent="0" marL="0">
              <a:buNone/>
            </a:pPr>
            <a:r>
              <a:rPr lang="en-US" sz="1400" b="1" dirty="0">
                <a:solidFill>
                  <a:schemeClr val="accent1"/>
                </a:solidFill>
              </a:rPr>
              <a:t>3</a:t>
            </a:r>
            <a:endParaRPr lang="en-US" sz="1400" dirty="0"/>
          </a:p>
        </p:txBody>
      </p:sp>
      <p:sp>
        <p:nvSpPr>
          <p:cNvPr id="20" name="Text 15"/>
          <p:cNvSpPr txBox="1"/>
          <p:nvPr/>
        </p:nvSpPr>
        <p:spPr>
          <a:xfrm>
            <a:off x="4507992" y="2971800"/>
            <a:ext cx="1371600" cy="411480"/>
          </a:xfrm>
          <a:prstGeom prst="rect">
            <a:avLst/>
          </a:prstGeom>
          <a:noFill/>
          <a:ln/>
        </p:spPr>
        <p:txBody>
          <a:bodyPr wrap="square" lIns="0" tIns="0" rIns="0" bIns="0" rtlCol="0" anchor="ctr"/>
          <a:lstStyle/>
          <a:p>
            <a:pPr indent="0" marL="0">
              <a:buNone/>
            </a:pPr>
            <a:r>
              <a:rPr lang="en-US" sz="1800" b="1" dirty="0">
                <a:solidFill>
                  <a:schemeClr val="tx1"/>
                </a:solidFill>
              </a:rPr>
              <a:t>Analyst</a:t>
            </a:r>
            <a:endParaRPr lang="en-US" sz="1800" dirty="0"/>
          </a:p>
        </p:txBody>
      </p:sp>
      <p:sp>
        <p:nvSpPr>
          <p:cNvPr id="21" name="Text 16"/>
          <p:cNvSpPr txBox="1"/>
          <p:nvPr/>
        </p:nvSpPr>
        <p:spPr>
          <a:xfrm>
            <a:off x="4507992" y="3429000"/>
            <a:ext cx="1371600" cy="1783080"/>
          </a:xfrm>
          <a:prstGeom prst="rect">
            <a:avLst/>
          </a:prstGeom>
          <a:noFill/>
          <a:ln/>
        </p:spPr>
        <p:txBody>
          <a:bodyPr wrap="square" lIns="0" tIns="0" rIns="0" bIns="0" rtlCol="0" anchor="t"/>
          <a:lstStyle/>
          <a:p>
            <a:pPr indent="0" marL="0">
              <a:buNone/>
            </a:pPr>
            <a:r>
              <a:rPr lang="en-US" sz="1300" dirty="0">
                <a:solidFill>
                  <a:schemeClr val="accent5"/>
                </a:solidFill>
              </a:rPr>
              <a:t>Scores need, budget and reach 0–100. Only the best go on</a:t>
            </a:r>
            <a:endParaRPr lang="en-US" sz="1300" dirty="0"/>
          </a:p>
        </p:txBody>
      </p:sp>
      <p:sp>
        <p:nvSpPr>
          <p:cNvPr id="22" name="card"/>
          <p:cNvSpPr/>
          <p:nvPr/>
        </p:nvSpPr>
        <p:spPr>
          <a:xfrm>
            <a:off x="6144768" y="2057400"/>
            <a:ext cx="1737360" cy="3246120"/>
          </a:xfrm>
          <a:prstGeom prst="roundRect">
            <a:avLst>
              <a:gd name="adj" fmla="val 631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23" name="icon circle"/>
          <p:cNvSpPr/>
          <p:nvPr/>
        </p:nvSpPr>
        <p:spPr>
          <a:xfrm>
            <a:off x="6373368" y="2286000"/>
            <a:ext cx="566928" cy="566928"/>
          </a:xfrm>
          <a:prstGeom prst="ellipse">
            <a:avLst/>
          </a:prstGeom>
          <a:solidFill>
            <a:schemeClr val="tx2"/>
          </a:solidFill>
          <a:ln w="12700">
            <a:solidFill>
              <a:schemeClr val="tx2"/>
            </a:solidFill>
            <a:prstDash val="solid"/>
          </a:ln>
        </p:spPr>
      </p:sp>
      <p:pic>
        <p:nvPicPr>
          <p:cNvPr id="24" name="icon" descr="preencoded.png">    </p:cNvPr>
          <p:cNvPicPr>
            <a:picLocks noChangeAspect="1"/>
          </p:cNvPicPr>
          <p:nvPr/>
        </p:nvPicPr>
        <p:blipFill>
          <a:blip r:embed="rId4"/>
          <a:stretch>
            <a:fillRect/>
          </a:stretch>
        </p:blipFill>
        <p:spPr>
          <a:xfrm>
            <a:off x="6498092" y="2410724"/>
            <a:ext cx="317480" cy="317480"/>
          </a:xfrm>
          <a:prstGeom prst="rect">
            <a:avLst/>
          </a:prstGeom>
        </p:spPr>
      </p:pic>
      <p:sp>
        <p:nvSpPr>
          <p:cNvPr id="25" name="Text 19"/>
          <p:cNvSpPr txBox="1"/>
          <p:nvPr/>
        </p:nvSpPr>
        <p:spPr>
          <a:xfrm>
            <a:off x="7333488" y="2286000"/>
            <a:ext cx="365760" cy="365760"/>
          </a:xfrm>
          <a:prstGeom prst="rect">
            <a:avLst/>
          </a:prstGeom>
          <a:noFill/>
          <a:ln/>
        </p:spPr>
        <p:txBody>
          <a:bodyPr wrap="square" lIns="0" tIns="0" rIns="0" bIns="0" rtlCol="0" anchor="ctr"/>
          <a:lstStyle/>
          <a:p>
            <a:pPr algn="r" indent="0" marL="0">
              <a:buNone/>
            </a:pPr>
            <a:r>
              <a:rPr lang="en-US" sz="1400" b="1" dirty="0">
                <a:solidFill>
                  <a:schemeClr val="accent1"/>
                </a:solidFill>
              </a:rPr>
              <a:t>4</a:t>
            </a:r>
            <a:endParaRPr lang="en-US" sz="1400" dirty="0"/>
          </a:p>
        </p:txBody>
      </p:sp>
      <p:sp>
        <p:nvSpPr>
          <p:cNvPr id="26" name="Text 20"/>
          <p:cNvSpPr txBox="1"/>
          <p:nvPr/>
        </p:nvSpPr>
        <p:spPr>
          <a:xfrm>
            <a:off x="6373368" y="2971800"/>
            <a:ext cx="1371600" cy="411480"/>
          </a:xfrm>
          <a:prstGeom prst="rect">
            <a:avLst/>
          </a:prstGeom>
          <a:noFill/>
          <a:ln/>
        </p:spPr>
        <p:txBody>
          <a:bodyPr wrap="square" lIns="0" tIns="0" rIns="0" bIns="0" rtlCol="0" anchor="ctr"/>
          <a:lstStyle/>
          <a:p>
            <a:pPr indent="0" marL="0">
              <a:buNone/>
            </a:pPr>
            <a:r>
              <a:rPr lang="en-US" sz="1800" b="1" dirty="0">
                <a:solidFill>
                  <a:schemeClr val="tx1"/>
                </a:solidFill>
              </a:rPr>
              <a:t>Builder</a:t>
            </a:r>
            <a:endParaRPr lang="en-US" sz="1800" dirty="0"/>
          </a:p>
        </p:txBody>
      </p:sp>
      <p:sp>
        <p:nvSpPr>
          <p:cNvPr id="27" name="Text 21"/>
          <p:cNvSpPr txBox="1"/>
          <p:nvPr/>
        </p:nvSpPr>
        <p:spPr>
          <a:xfrm>
            <a:off x="6373368" y="3429000"/>
            <a:ext cx="1371600" cy="1783080"/>
          </a:xfrm>
          <a:prstGeom prst="rect">
            <a:avLst/>
          </a:prstGeom>
          <a:noFill/>
          <a:ln/>
        </p:spPr>
        <p:txBody>
          <a:bodyPr wrap="square" lIns="0" tIns="0" rIns="0" bIns="0" rtlCol="0" anchor="t"/>
          <a:lstStyle/>
          <a:p>
            <a:pPr indent="0" marL="0">
              <a:buNone/>
            </a:pPr>
            <a:r>
              <a:rPr lang="en-US" sz="1300" dirty="0">
                <a:solidFill>
                  <a:schemeClr val="accent5"/>
                </a:solidFill>
              </a:rPr>
              <a:t>Free sample of your work: ad concept, store page, report, app prototype, game, website or proposal</a:t>
            </a:r>
            <a:endParaRPr lang="en-US" sz="1300" dirty="0"/>
          </a:p>
        </p:txBody>
      </p:sp>
      <p:sp>
        <p:nvSpPr>
          <p:cNvPr id="28" name="card"/>
          <p:cNvSpPr/>
          <p:nvPr/>
        </p:nvSpPr>
        <p:spPr>
          <a:xfrm>
            <a:off x="8010144" y="2057400"/>
            <a:ext cx="1737360" cy="3246120"/>
          </a:xfrm>
          <a:prstGeom prst="roundRect">
            <a:avLst>
              <a:gd name="adj" fmla="val 631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29" name="icon circle"/>
          <p:cNvSpPr/>
          <p:nvPr/>
        </p:nvSpPr>
        <p:spPr>
          <a:xfrm>
            <a:off x="8238744" y="2286000"/>
            <a:ext cx="566928" cy="566928"/>
          </a:xfrm>
          <a:prstGeom prst="ellipse">
            <a:avLst/>
          </a:prstGeom>
          <a:solidFill>
            <a:schemeClr val="tx2"/>
          </a:solidFill>
          <a:ln w="12700">
            <a:solidFill>
              <a:schemeClr val="tx2"/>
            </a:solidFill>
            <a:prstDash val="solid"/>
          </a:ln>
        </p:spPr>
      </p:sp>
      <p:pic>
        <p:nvPicPr>
          <p:cNvPr id="30" name="icon" descr="preencoded.png">    </p:cNvPr>
          <p:cNvPicPr>
            <a:picLocks noChangeAspect="1"/>
          </p:cNvPicPr>
          <p:nvPr/>
        </p:nvPicPr>
        <p:blipFill>
          <a:blip r:embed="rId5"/>
          <a:stretch>
            <a:fillRect/>
          </a:stretch>
        </p:blipFill>
        <p:spPr>
          <a:xfrm>
            <a:off x="8363468" y="2410724"/>
            <a:ext cx="317480" cy="317480"/>
          </a:xfrm>
          <a:prstGeom prst="rect">
            <a:avLst/>
          </a:prstGeom>
        </p:spPr>
      </p:pic>
      <p:sp>
        <p:nvSpPr>
          <p:cNvPr id="31" name="Text 24"/>
          <p:cNvSpPr txBox="1"/>
          <p:nvPr/>
        </p:nvSpPr>
        <p:spPr>
          <a:xfrm>
            <a:off x="9198864" y="2286000"/>
            <a:ext cx="365760" cy="365760"/>
          </a:xfrm>
          <a:prstGeom prst="rect">
            <a:avLst/>
          </a:prstGeom>
          <a:noFill/>
          <a:ln/>
        </p:spPr>
        <p:txBody>
          <a:bodyPr wrap="square" lIns="0" tIns="0" rIns="0" bIns="0" rtlCol="0" anchor="ctr"/>
          <a:lstStyle/>
          <a:p>
            <a:pPr algn="r" indent="0" marL="0">
              <a:buNone/>
            </a:pPr>
            <a:r>
              <a:rPr lang="en-US" sz="1400" b="1" dirty="0">
                <a:solidFill>
                  <a:schemeClr val="accent1"/>
                </a:solidFill>
              </a:rPr>
              <a:t>5</a:t>
            </a:r>
            <a:endParaRPr lang="en-US" sz="1400" dirty="0"/>
          </a:p>
        </p:txBody>
      </p:sp>
      <p:sp>
        <p:nvSpPr>
          <p:cNvPr id="32" name="Text 25"/>
          <p:cNvSpPr txBox="1"/>
          <p:nvPr/>
        </p:nvSpPr>
        <p:spPr>
          <a:xfrm>
            <a:off x="8238744" y="2971800"/>
            <a:ext cx="1371600" cy="411480"/>
          </a:xfrm>
          <a:prstGeom prst="rect">
            <a:avLst/>
          </a:prstGeom>
          <a:noFill/>
          <a:ln/>
        </p:spPr>
        <p:txBody>
          <a:bodyPr wrap="square" lIns="0" tIns="0" rIns="0" bIns="0" rtlCol="0" anchor="ctr"/>
          <a:lstStyle/>
          <a:p>
            <a:pPr indent="0" marL="0">
              <a:buNone/>
            </a:pPr>
            <a:r>
              <a:rPr lang="en-US" sz="1800" b="1" dirty="0">
                <a:solidFill>
                  <a:schemeClr val="tx1"/>
                </a:solidFill>
              </a:rPr>
              <a:t>Writer</a:t>
            </a:r>
            <a:endParaRPr lang="en-US" sz="1800" dirty="0"/>
          </a:p>
        </p:txBody>
      </p:sp>
      <p:sp>
        <p:nvSpPr>
          <p:cNvPr id="33" name="Text 26"/>
          <p:cNvSpPr txBox="1"/>
          <p:nvPr/>
        </p:nvSpPr>
        <p:spPr>
          <a:xfrm>
            <a:off x="8238744" y="3429000"/>
            <a:ext cx="1371600" cy="1783080"/>
          </a:xfrm>
          <a:prstGeom prst="rect">
            <a:avLst/>
          </a:prstGeom>
          <a:noFill/>
          <a:ln/>
        </p:spPr>
        <p:txBody>
          <a:bodyPr wrap="square" lIns="0" tIns="0" rIns="0" bIns="0" rtlCol="0" anchor="t"/>
          <a:lstStyle/>
          <a:p>
            <a:pPr indent="0" marL="0">
              <a:buNone/>
            </a:pPr>
            <a:r>
              <a:rPr lang="en-US" sz="1300" dirty="0">
                <a:solidFill>
                  <a:schemeClr val="accent5"/>
                </a:solidFill>
              </a:rPr>
              <a:t>Short, honest WhatsApp message in natural Sorani with one link: the sample</a:t>
            </a:r>
            <a:endParaRPr lang="en-US" sz="1300" dirty="0"/>
          </a:p>
        </p:txBody>
      </p:sp>
      <p:sp>
        <p:nvSpPr>
          <p:cNvPr id="34" name="card"/>
          <p:cNvSpPr/>
          <p:nvPr/>
        </p:nvSpPr>
        <p:spPr>
          <a:xfrm>
            <a:off x="9875520" y="2057400"/>
            <a:ext cx="1737360" cy="3246120"/>
          </a:xfrm>
          <a:prstGeom prst="roundRect">
            <a:avLst>
              <a:gd name="adj" fmla="val 631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35" name="icon circle"/>
          <p:cNvSpPr/>
          <p:nvPr/>
        </p:nvSpPr>
        <p:spPr>
          <a:xfrm>
            <a:off x="10104120" y="2286000"/>
            <a:ext cx="566928" cy="566928"/>
          </a:xfrm>
          <a:prstGeom prst="ellipse">
            <a:avLst/>
          </a:prstGeom>
          <a:solidFill>
            <a:schemeClr val="tx2"/>
          </a:solidFill>
          <a:ln w="12700">
            <a:solidFill>
              <a:schemeClr val="tx2"/>
            </a:solidFill>
            <a:prstDash val="solid"/>
          </a:ln>
        </p:spPr>
      </p:sp>
      <p:pic>
        <p:nvPicPr>
          <p:cNvPr id="36" name="icon" descr="preencoded.png">    </p:cNvPr>
          <p:cNvPicPr>
            <a:picLocks noChangeAspect="1"/>
          </p:cNvPicPr>
          <p:nvPr/>
        </p:nvPicPr>
        <p:blipFill>
          <a:blip r:embed="rId6"/>
          <a:stretch>
            <a:fillRect/>
          </a:stretch>
        </p:blipFill>
        <p:spPr>
          <a:xfrm>
            <a:off x="10228844" y="2410724"/>
            <a:ext cx="317480" cy="317480"/>
          </a:xfrm>
          <a:prstGeom prst="rect">
            <a:avLst/>
          </a:prstGeom>
        </p:spPr>
      </p:pic>
      <p:sp>
        <p:nvSpPr>
          <p:cNvPr id="37" name="Text 29"/>
          <p:cNvSpPr txBox="1"/>
          <p:nvPr/>
        </p:nvSpPr>
        <p:spPr>
          <a:xfrm>
            <a:off x="11064240" y="2286000"/>
            <a:ext cx="365760" cy="365760"/>
          </a:xfrm>
          <a:prstGeom prst="rect">
            <a:avLst/>
          </a:prstGeom>
          <a:noFill/>
          <a:ln/>
        </p:spPr>
        <p:txBody>
          <a:bodyPr wrap="square" lIns="0" tIns="0" rIns="0" bIns="0" rtlCol="0" anchor="ctr"/>
          <a:lstStyle/>
          <a:p>
            <a:pPr algn="r" indent="0" marL="0">
              <a:buNone/>
            </a:pPr>
            <a:r>
              <a:rPr lang="en-US" sz="1400" b="1" dirty="0">
                <a:solidFill>
                  <a:schemeClr val="accent1"/>
                </a:solidFill>
              </a:rPr>
              <a:t>6</a:t>
            </a:r>
            <a:endParaRPr lang="en-US" sz="1400" dirty="0"/>
          </a:p>
        </p:txBody>
      </p:sp>
      <p:sp>
        <p:nvSpPr>
          <p:cNvPr id="38" name="Text 30"/>
          <p:cNvSpPr txBox="1"/>
          <p:nvPr/>
        </p:nvSpPr>
        <p:spPr>
          <a:xfrm>
            <a:off x="10104120" y="2971800"/>
            <a:ext cx="1371600" cy="411480"/>
          </a:xfrm>
          <a:prstGeom prst="rect">
            <a:avLst/>
          </a:prstGeom>
          <a:noFill/>
          <a:ln/>
        </p:spPr>
        <p:txBody>
          <a:bodyPr wrap="square" lIns="0" tIns="0" rIns="0" bIns="0" rtlCol="0" anchor="ctr"/>
          <a:lstStyle/>
          <a:p>
            <a:pPr indent="0" marL="0">
              <a:buNone/>
            </a:pPr>
            <a:r>
              <a:rPr lang="en-US" sz="1800" b="1" dirty="0">
                <a:solidFill>
                  <a:schemeClr val="tx1"/>
                </a:solidFill>
              </a:rPr>
              <a:t>Closer</a:t>
            </a:r>
            <a:endParaRPr lang="en-US" sz="1800" dirty="0"/>
          </a:p>
        </p:txBody>
      </p:sp>
      <p:sp>
        <p:nvSpPr>
          <p:cNvPr id="39" name="Text 31"/>
          <p:cNvSpPr txBox="1"/>
          <p:nvPr/>
        </p:nvSpPr>
        <p:spPr>
          <a:xfrm>
            <a:off x="10104120" y="3429000"/>
            <a:ext cx="1371600" cy="1783080"/>
          </a:xfrm>
          <a:prstGeom prst="rect">
            <a:avLst/>
          </a:prstGeom>
          <a:noFill/>
          <a:ln/>
        </p:spPr>
        <p:txBody>
          <a:bodyPr wrap="square" lIns="0" tIns="0" rIns="0" bIns="0" rtlCol="0" anchor="t"/>
          <a:lstStyle/>
          <a:p>
            <a:pPr indent="0" marL="0">
              <a:buNone/>
            </a:pPr>
            <a:r>
              <a:rPr lang="en-US" sz="1300" dirty="0">
                <a:solidFill>
                  <a:schemeClr val="accent5"/>
                </a:solidFill>
              </a:rPr>
              <a:t>When they reply, drafts the answer until they say yes</a:t>
            </a:r>
            <a:endParaRPr lang="en-US" sz="1300" dirty="0"/>
          </a:p>
        </p:txBody>
      </p:sp>
      <p:sp>
        <p:nvSpPr>
          <p:cNvPr id="40" name="owner bar"/>
          <p:cNvSpPr/>
          <p:nvPr/>
        </p:nvSpPr>
        <p:spPr>
          <a:xfrm>
            <a:off x="548640" y="5486400"/>
            <a:ext cx="11064240"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41" name="icon circle"/>
          <p:cNvSpPr/>
          <p:nvPr/>
        </p:nvSpPr>
        <p:spPr>
          <a:xfrm>
            <a:off x="731520" y="5550408"/>
            <a:ext cx="548640" cy="548640"/>
          </a:xfrm>
          <a:prstGeom prst="ellipse">
            <a:avLst/>
          </a:prstGeom>
          <a:solidFill>
            <a:schemeClr val="accent1"/>
          </a:solidFill>
          <a:ln w="12700">
            <a:solidFill>
              <a:schemeClr val="accent1"/>
            </a:solidFill>
            <a:prstDash val="solid"/>
          </a:ln>
        </p:spPr>
      </p:sp>
      <p:pic>
        <p:nvPicPr>
          <p:cNvPr id="42" name="icon" descr="preencoded.png">    </p:cNvPr>
          <p:cNvPicPr>
            <a:picLocks noChangeAspect="1"/>
          </p:cNvPicPr>
          <p:nvPr/>
        </p:nvPicPr>
        <p:blipFill>
          <a:blip r:embed="rId7"/>
          <a:stretch>
            <a:fillRect/>
          </a:stretch>
        </p:blipFill>
        <p:spPr>
          <a:xfrm>
            <a:off x="852221" y="5671109"/>
            <a:ext cx="307238" cy="307238"/>
          </a:xfrm>
          <a:prstGeom prst="rect">
            <a:avLst/>
          </a:prstGeom>
        </p:spPr>
      </p:pic>
      <p:sp>
        <p:nvSpPr>
          <p:cNvPr id="43" name="Text 34"/>
          <p:cNvSpPr txBox="1"/>
          <p:nvPr/>
        </p:nvSpPr>
        <p:spPr>
          <a:xfrm>
            <a:off x="1463040" y="5486400"/>
            <a:ext cx="9966960" cy="685800"/>
          </a:xfrm>
          <a:prstGeom prst="rect">
            <a:avLst/>
          </a:prstGeom>
          <a:noFill/>
          <a:ln/>
        </p:spPr>
        <p:txBody>
          <a:bodyPr wrap="square" lIns="0" tIns="0" rIns="0" bIns="0" rtlCol="0" anchor="ctr"/>
          <a:lstStyle/>
          <a:p>
            <a:pPr indent="0" marL="0">
              <a:buNone/>
            </a:pPr>
            <a:r>
              <a:rPr lang="en-US" sz="1500" b="1" dirty="0">
                <a:solidFill>
                  <a:schemeClr val="tx1"/>
                </a:solidFill>
              </a:rPr>
              <a:t>You: </a:t>
            </a:r>
            <a:pPr indent="0" marL="0">
              <a:buNone/>
            </a:pPr>
            <a:r>
              <a:rPr lang="en-US" sz="1500" dirty="0">
                <a:solidFill>
                  <a:schemeClr val="accent5"/>
                </a:solidFill>
              </a:rPr>
              <a:t>open the sample, read the Judge’s verdict, tap Approve, and WhatsApp opens with the message ready.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Mode 2: Grow, your social media manager</a:t>
            </a:r>
            <a:endParaRPr lang="en-US" sz="3200" dirty="0"/>
          </a:p>
        </p:txBody>
      </p:sp>
      <p:pic>
        <p:nvPicPr>
          <p:cNvPr id="3" name="grow screenshot" descr="C:\Users\ramya\AppData\Local\Temp\deck\shots\grow.png">    </p:cNvPr>
          <p:cNvPicPr>
            <a:picLocks noChangeAspect="1"/>
          </p:cNvPicPr>
          <p:nvPr/>
        </p:nvPicPr>
        <p:blipFill>
          <a:blip r:embed="rId1"/>
          <a:stretch>
            <a:fillRect/>
          </a:stretch>
        </p:blipFill>
        <p:spPr>
          <a:xfrm>
            <a:off x="548640" y="1417320"/>
            <a:ext cx="6035040" cy="3771900"/>
          </a:xfrm>
          <a:prstGeom prst="rect">
            <a:avLst/>
          </a:prstGeom>
          <a:effectLst>
            <a:outerShdw sx="100000" sy="100000" kx="0" ky="0" algn="bl" rotWithShape="0" blurRad="228600" dist="50800" dir="5400000">
              <a:srgbClr val="000000">
                <a:alpha val="25000"/>
              </a:srgbClr>
            </a:outerShdw>
          </a:effectLst>
        </p:spPr>
      </p:pic>
      <p:pic>
        <p:nvPicPr>
          <p:cNvPr id="4" name="picture post" descr="C:\Users\ramya\AppData\Local\Temp\deck\shots\post_img.png">    </p:cNvPr>
          <p:cNvPicPr>
            <a:picLocks noChangeAspect="1"/>
          </p:cNvPicPr>
          <p:nvPr/>
        </p:nvPicPr>
        <p:blipFill>
          <a:blip r:embed="rId2"/>
          <a:stretch>
            <a:fillRect/>
          </a:stretch>
        </p:blipFill>
        <p:spPr>
          <a:xfrm>
            <a:off x="6903720" y="1417320"/>
            <a:ext cx="2194560" cy="2743200"/>
          </a:xfrm>
          <a:prstGeom prst="rect">
            <a:avLst/>
          </a:prstGeom>
          <a:effectLst>
            <a:outerShdw sx="100000" sy="100000" kx="0" ky="0" algn="bl" rotWithShape="0" blurRad="228600" dist="50800" dir="5400000">
              <a:srgbClr val="000000">
                <a:alpha val="25000"/>
              </a:srgbClr>
            </a:outerShdw>
          </a:effectLst>
        </p:spPr>
      </p:pic>
      <p:pic>
        <p:nvPicPr>
          <p:cNvPr id="5" name="video frame" descr="C:\Users\ramya\AppData\Local\Temp\deck\shots\post_vid.png">    </p:cNvPr>
          <p:cNvPicPr>
            <a:picLocks noChangeAspect="1"/>
          </p:cNvPicPr>
          <p:nvPr/>
        </p:nvPicPr>
        <p:blipFill>
          <a:blip r:embed="rId3"/>
          <a:stretch>
            <a:fillRect/>
          </a:stretch>
        </p:blipFill>
        <p:spPr>
          <a:xfrm>
            <a:off x="9372600" y="1417320"/>
            <a:ext cx="1545336" cy="2743200"/>
          </a:xfrm>
          <a:prstGeom prst="rect">
            <a:avLst/>
          </a:prstGeom>
          <a:effectLst>
            <a:outerShdw sx="100000" sy="100000" kx="0" ky="0" algn="bl" rotWithShape="0" blurRad="228600" dist="50800" dir="5400000">
              <a:srgbClr val="000000">
                <a:alpha val="25000"/>
              </a:srgbClr>
            </a:outerShdw>
          </a:effectLst>
        </p:spPr>
      </p:pic>
      <p:sp>
        <p:nvSpPr>
          <p:cNvPr id="6" name="Text 1"/>
          <p:cNvSpPr txBox="1"/>
          <p:nvPr/>
        </p:nvSpPr>
        <p:spPr>
          <a:xfrm>
            <a:off x="6903720" y="4206240"/>
            <a:ext cx="2194560" cy="274320"/>
          </a:xfrm>
          <a:prstGeom prst="rect">
            <a:avLst/>
          </a:prstGeom>
          <a:noFill/>
          <a:ln/>
        </p:spPr>
        <p:txBody>
          <a:bodyPr wrap="square" lIns="0" tIns="0" rIns="0" bIns="0" rtlCol="0" anchor="ctr"/>
          <a:lstStyle/>
          <a:p>
            <a:pPr indent="0" marL="0">
              <a:buNone/>
            </a:pPr>
            <a:r>
              <a:rPr lang="en-US" sz="1100" dirty="0">
                <a:solidFill>
                  <a:schemeClr val="accent5"/>
                </a:solidFill>
              </a:rPr>
              <a:t>Picture post 1080×1350</a:t>
            </a:r>
            <a:endParaRPr lang="en-US" sz="1100" dirty="0"/>
          </a:p>
        </p:txBody>
      </p:sp>
      <p:sp>
        <p:nvSpPr>
          <p:cNvPr id="7" name="Text 2"/>
          <p:cNvSpPr txBox="1"/>
          <p:nvPr/>
        </p:nvSpPr>
        <p:spPr>
          <a:xfrm>
            <a:off x="9372600" y="4206240"/>
            <a:ext cx="2286000" cy="274320"/>
          </a:xfrm>
          <a:prstGeom prst="rect">
            <a:avLst/>
          </a:prstGeom>
          <a:noFill/>
          <a:ln/>
        </p:spPr>
        <p:txBody>
          <a:bodyPr wrap="square" lIns="0" tIns="0" rIns="0" bIns="0" rtlCol="0" anchor="ctr"/>
          <a:lstStyle/>
          <a:p>
            <a:pPr indent="0" marL="0">
              <a:buNone/>
            </a:pPr>
            <a:r>
              <a:rPr lang="en-US" sz="1100" dirty="0">
                <a:solidFill>
                  <a:schemeClr val="accent5"/>
                </a:solidFill>
              </a:rPr>
              <a:t>10-second video 1080×1920</a:t>
            </a:r>
            <a:endParaRPr lang="en-US" sz="1100" dirty="0"/>
          </a:p>
        </p:txBody>
      </p:sp>
      <p:sp>
        <p:nvSpPr>
          <p:cNvPr id="8" name="Text 3"/>
          <p:cNvSpPr txBox="1"/>
          <p:nvPr/>
        </p:nvSpPr>
        <p:spPr>
          <a:xfrm>
            <a:off x="6903720" y="4572000"/>
            <a:ext cx="4754880" cy="1691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The Content creator plans posts from what you sell and what works in your niche now</a:t>
            </a:r>
            <a:endParaRPr lang="en-US" sz="1400" dirty="0"/>
          </a:p>
          <a:p>
            <a:pPr marL="342900" indent="-342900">
              <a:spcAft>
                <a:spcPts val="500"/>
              </a:spcAft>
              <a:buSzPct val="100000"/>
              <a:buChar char="•"/>
            </a:pPr>
            <a:r>
              <a:rPr lang="en-US" sz="1400" dirty="0">
                <a:solidFill>
                  <a:schemeClr val="tx1"/>
                </a:solidFill>
              </a:rPr>
              <a:t>Real posts made by Jump HQ, in Kurdish, with your brand</a:t>
            </a:r>
            <a:endParaRPr lang="en-US" sz="1400" dirty="0"/>
          </a:p>
          <a:p>
            <a:pPr marL="342900" indent="-342900">
              <a:spcAft>
                <a:spcPts val="500"/>
              </a:spcAft>
              <a:buSzPct val="100000"/>
              <a:buChar char="•"/>
            </a:pPr>
            <a:r>
              <a:rPr lang="en-US" sz="1400" dirty="0">
                <a:solidFill>
                  <a:schemeClr val="tx1"/>
                </a:solidFill>
              </a:rPr>
              <a:t>The Judge blocks invented prices, results or reviews</a:t>
            </a:r>
            <a:endParaRPr lang="en-US" sz="1400" dirty="0"/>
          </a:p>
          <a:p>
            <a:pPr marL="342900" indent="-342900">
              <a:spcAft>
                <a:spcPts val="500"/>
              </a:spcAft>
              <a:buSzPct val="100000"/>
              <a:buChar char="•"/>
            </a:pPr>
            <a:r>
              <a:rPr lang="en-US" sz="1400" dirty="0">
                <a:solidFill>
                  <a:schemeClr val="tx1"/>
                </a:solidFill>
              </a:rPr>
              <a:t>Auto-posts to Facebook Page and Telegram; Instagram and TikTok in one tap</a:t>
            </a:r>
            <a:endParaRPr lang="en-US" sz="1400" dirty="0"/>
          </a:p>
        </p:txBody>
      </p:sp>
      <p:sp>
        <p:nvSpPr>
          <p:cNvPr id="9" name="Text 4"/>
          <p:cNvSpPr txBox="1"/>
          <p:nvPr/>
        </p:nvSpPr>
        <p:spPr>
          <a:xfrm>
            <a:off x="548640" y="5349240"/>
            <a:ext cx="6035040" cy="457200"/>
          </a:xfrm>
          <a:prstGeom prst="rect">
            <a:avLst/>
          </a:prstGeom>
          <a:noFill/>
          <a:ln/>
        </p:spPr>
        <p:txBody>
          <a:bodyPr wrap="square" lIns="0" tIns="0" rIns="0" bIns="0" rtlCol="0" anchor="ctr"/>
          <a:lstStyle/>
          <a:p>
            <a:pPr indent="0" marL="0">
              <a:buNone/>
            </a:pPr>
            <a:r>
              <a:rPr lang="en-US" sz="1400" dirty="0">
                <a:solidFill>
                  <a:schemeClr val="accent5"/>
                </a:solidFill>
              </a:rPr>
              <a:t>Approve, edit the caption, pick the time, or Post now, also from the phone app</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The AI Judge and Sleep mode: it keeps working at night</a:t>
            </a:r>
            <a:endParaRPr lang="en-US" sz="3200" dirty="0"/>
          </a:p>
        </p:txBody>
      </p:sp>
      <p:pic>
        <p:nvPicPr>
          <p:cNvPr id="3" name="judge screenshot" descr="C:\Users\ramya\AppData\Local\Temp\deck\shots\messages.png">    </p:cNvPr>
          <p:cNvPicPr>
            <a:picLocks noChangeAspect="1"/>
          </p:cNvPicPr>
          <p:nvPr/>
        </p:nvPicPr>
        <p:blipFill>
          <a:blip r:embed="rId1"/>
          <a:stretch>
            <a:fillRect/>
          </a:stretch>
        </p:blipFill>
        <p:spPr>
          <a:xfrm>
            <a:off x="5577840" y="1417320"/>
            <a:ext cx="6035040" cy="3771900"/>
          </a:xfrm>
          <a:prstGeom prst="rect">
            <a:avLst/>
          </a:prstGeom>
          <a:effectLst>
            <a:outerShdw sx="100000" sy="100000" kx="0" ky="0" algn="bl" rotWithShape="0" blurRad="228600" dist="50800" dir="5400000">
              <a:srgbClr val="000000">
                <a:alpha val="25000"/>
              </a:srgbClr>
            </a:outerShdw>
          </a:effectLst>
        </p:spPr>
      </p:pic>
      <p:sp>
        <p:nvSpPr>
          <p:cNvPr id="4" name="Text 1"/>
          <p:cNvSpPr txBox="1"/>
          <p:nvPr/>
        </p:nvSpPr>
        <p:spPr>
          <a:xfrm>
            <a:off x="5577840" y="5303520"/>
            <a:ext cx="6035040" cy="548640"/>
          </a:xfrm>
          <a:prstGeom prst="rect">
            <a:avLst/>
          </a:prstGeom>
          <a:noFill/>
          <a:ln/>
        </p:spPr>
        <p:txBody>
          <a:bodyPr wrap="square" lIns="0" tIns="0" rIns="0" bIns="0" rtlCol="0" anchor="ctr"/>
          <a:lstStyle/>
          <a:p>
            <a:pPr indent="0" marL="0">
              <a:buNone/>
            </a:pPr>
            <a:r>
              <a:rPr lang="en-US" sz="1300" dirty="0">
                <a:solidFill>
                  <a:schemeClr val="accent5"/>
                </a:solidFill>
              </a:rPr>
              <a:t>A real catch: the Judge held this message because the phone number wasn’t the business’s own</a:t>
            </a:r>
            <a:endParaRPr lang="en-US" sz="1300" dirty="0"/>
          </a:p>
        </p:txBody>
      </p:sp>
      <p:sp>
        <p:nvSpPr>
          <p:cNvPr id="5" name="card"/>
          <p:cNvSpPr/>
          <p:nvPr/>
        </p:nvSpPr>
        <p:spPr>
          <a:xfrm>
            <a:off x="548640" y="1417320"/>
            <a:ext cx="4754880" cy="1188720"/>
          </a:xfrm>
          <a:prstGeom prst="roundRect">
            <a:avLst>
              <a:gd name="adj" fmla="val 9231"/>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6" name="icon circle"/>
          <p:cNvSpPr/>
          <p:nvPr/>
        </p:nvSpPr>
        <p:spPr>
          <a:xfrm>
            <a:off x="777240" y="1719072"/>
            <a:ext cx="566928" cy="566928"/>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2"/>
          <a:stretch>
            <a:fillRect/>
          </a:stretch>
        </p:blipFill>
        <p:spPr>
          <a:xfrm>
            <a:off x="901964" y="1843796"/>
            <a:ext cx="317480" cy="317480"/>
          </a:xfrm>
          <a:prstGeom prst="rect">
            <a:avLst/>
          </a:prstGeom>
        </p:spPr>
      </p:pic>
      <p:sp>
        <p:nvSpPr>
          <p:cNvPr id="8" name="Text 4"/>
          <p:cNvSpPr txBox="1"/>
          <p:nvPr/>
        </p:nvSpPr>
        <p:spPr>
          <a:xfrm>
            <a:off x="1554480" y="1554480"/>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Awake</a:t>
            </a:r>
            <a:endParaRPr lang="en-US" sz="1800" dirty="0"/>
          </a:p>
        </p:txBody>
      </p:sp>
      <p:sp>
        <p:nvSpPr>
          <p:cNvPr id="9" name="Text 5"/>
          <p:cNvSpPr txBox="1"/>
          <p:nvPr/>
        </p:nvSpPr>
        <p:spPr>
          <a:xfrm>
            <a:off x="1554480" y="1920240"/>
            <a:ext cx="3611880" cy="640080"/>
          </a:xfrm>
          <a:prstGeom prst="rect">
            <a:avLst/>
          </a:prstGeom>
          <a:noFill/>
          <a:ln/>
        </p:spPr>
        <p:txBody>
          <a:bodyPr wrap="square" lIns="0" tIns="0" rIns="0" bIns="0" rtlCol="0" anchor="t"/>
          <a:lstStyle/>
          <a:p>
            <a:pPr indent="0" marL="0">
              <a:buNone/>
            </a:pPr>
            <a:r>
              <a:rPr lang="en-US" sz="1300" dirty="0">
                <a:solidFill>
                  <a:schemeClr val="accent5"/>
                </a:solidFill>
              </a:rPr>
              <a:t>You approve everything. The Judge gives a second opinion with a score and reasons.</a:t>
            </a:r>
            <a:endParaRPr lang="en-US" sz="1300" dirty="0"/>
          </a:p>
        </p:txBody>
      </p:sp>
      <p:sp>
        <p:nvSpPr>
          <p:cNvPr id="10" name="card"/>
          <p:cNvSpPr/>
          <p:nvPr/>
        </p:nvSpPr>
        <p:spPr>
          <a:xfrm>
            <a:off x="548640" y="2788920"/>
            <a:ext cx="4754880" cy="1188720"/>
          </a:xfrm>
          <a:prstGeom prst="roundRect">
            <a:avLst>
              <a:gd name="adj" fmla="val 9231"/>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1" name="icon circle"/>
          <p:cNvSpPr/>
          <p:nvPr/>
        </p:nvSpPr>
        <p:spPr>
          <a:xfrm>
            <a:off x="777240" y="3090672"/>
            <a:ext cx="566928" cy="566928"/>
          </a:xfrm>
          <a:prstGeom prst="ellipse">
            <a:avLst/>
          </a:prstGeom>
          <a:solidFill>
            <a:schemeClr val="tx2"/>
          </a:solidFill>
          <a:ln w="12700">
            <a:solidFill>
              <a:schemeClr val="tx2"/>
            </a:solidFill>
            <a:prstDash val="solid"/>
          </a:ln>
        </p:spPr>
      </p:sp>
      <p:pic>
        <p:nvPicPr>
          <p:cNvPr id="12" name="icon" descr="preencoded.png">    </p:cNvPr>
          <p:cNvPicPr>
            <a:picLocks noChangeAspect="1"/>
          </p:cNvPicPr>
          <p:nvPr/>
        </p:nvPicPr>
        <p:blipFill>
          <a:blip r:embed="rId3"/>
          <a:stretch>
            <a:fillRect/>
          </a:stretch>
        </p:blipFill>
        <p:spPr>
          <a:xfrm>
            <a:off x="901964" y="3215396"/>
            <a:ext cx="317480" cy="317480"/>
          </a:xfrm>
          <a:prstGeom prst="rect">
            <a:avLst/>
          </a:prstGeom>
        </p:spPr>
      </p:pic>
      <p:sp>
        <p:nvSpPr>
          <p:cNvPr id="13" name="Text 8"/>
          <p:cNvSpPr txBox="1"/>
          <p:nvPr/>
        </p:nvSpPr>
        <p:spPr>
          <a:xfrm>
            <a:off x="1554480" y="2926080"/>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Sleep</a:t>
            </a:r>
            <a:endParaRPr lang="en-US" sz="1800" dirty="0"/>
          </a:p>
        </p:txBody>
      </p:sp>
      <p:sp>
        <p:nvSpPr>
          <p:cNvPr id="14" name="Text 9"/>
          <p:cNvSpPr txBox="1"/>
          <p:nvPr/>
        </p:nvSpPr>
        <p:spPr>
          <a:xfrm>
            <a:off x="1554480" y="3291840"/>
            <a:ext cx="3611880" cy="640080"/>
          </a:xfrm>
          <a:prstGeom prst="rect">
            <a:avLst/>
          </a:prstGeom>
          <a:noFill/>
          <a:ln/>
        </p:spPr>
        <p:txBody>
          <a:bodyPr wrap="square" lIns="0" tIns="0" rIns="0" bIns="0" rtlCol="0" anchor="t"/>
          <a:lstStyle/>
          <a:p>
            <a:pPr indent="0" marL="0">
              <a:buNone/>
            </a:pPr>
            <a:r>
              <a:rPr lang="en-US" sz="1300" dirty="0">
                <a:solidFill>
                  <a:schemeClr val="accent5"/>
                </a:solidFill>
              </a:rPr>
              <a:t>Press Sleep or schedule 23:00–08:00. The Judge passes safe work (score ≥ 80, low risk); anything risky waits.</a:t>
            </a:r>
            <a:endParaRPr lang="en-US" sz="1300" dirty="0"/>
          </a:p>
        </p:txBody>
      </p:sp>
      <p:sp>
        <p:nvSpPr>
          <p:cNvPr id="15" name="card"/>
          <p:cNvSpPr/>
          <p:nvPr/>
        </p:nvSpPr>
        <p:spPr>
          <a:xfrm>
            <a:off x="548640" y="4160520"/>
            <a:ext cx="4754880" cy="1188720"/>
          </a:xfrm>
          <a:prstGeom prst="roundRect">
            <a:avLst>
              <a:gd name="adj" fmla="val 9231"/>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6" name="icon circle"/>
          <p:cNvSpPr/>
          <p:nvPr/>
        </p:nvSpPr>
        <p:spPr>
          <a:xfrm>
            <a:off x="777240" y="4462272"/>
            <a:ext cx="566928" cy="566928"/>
          </a:xfrm>
          <a:prstGeom prst="ellipse">
            <a:avLst/>
          </a:prstGeom>
          <a:solidFill>
            <a:schemeClr val="accent1"/>
          </a:solidFill>
          <a:ln w="12700">
            <a:solidFill>
              <a:schemeClr val="accent1"/>
            </a:solidFill>
            <a:prstDash val="solid"/>
          </a:ln>
        </p:spPr>
      </p:sp>
      <p:pic>
        <p:nvPicPr>
          <p:cNvPr id="17" name="icon" descr="preencoded.png">    </p:cNvPr>
          <p:cNvPicPr>
            <a:picLocks noChangeAspect="1"/>
          </p:cNvPicPr>
          <p:nvPr/>
        </p:nvPicPr>
        <p:blipFill>
          <a:blip r:embed="rId4"/>
          <a:stretch>
            <a:fillRect/>
          </a:stretch>
        </p:blipFill>
        <p:spPr>
          <a:xfrm>
            <a:off x="901964" y="4586996"/>
            <a:ext cx="317480" cy="317480"/>
          </a:xfrm>
          <a:prstGeom prst="rect">
            <a:avLst/>
          </a:prstGeom>
        </p:spPr>
      </p:pic>
      <p:sp>
        <p:nvSpPr>
          <p:cNvPr id="18" name="Text 12"/>
          <p:cNvSpPr txBox="1"/>
          <p:nvPr/>
        </p:nvSpPr>
        <p:spPr>
          <a:xfrm>
            <a:off x="1554480" y="4297680"/>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Morning report</a:t>
            </a:r>
            <a:endParaRPr lang="en-US" sz="1800" dirty="0"/>
          </a:p>
        </p:txBody>
      </p:sp>
      <p:sp>
        <p:nvSpPr>
          <p:cNvPr id="19" name="Text 13"/>
          <p:cNvSpPr txBox="1"/>
          <p:nvPr/>
        </p:nvSpPr>
        <p:spPr>
          <a:xfrm>
            <a:off x="1554480" y="4663440"/>
            <a:ext cx="3611880" cy="640080"/>
          </a:xfrm>
          <a:prstGeom prst="rect">
            <a:avLst/>
          </a:prstGeom>
          <a:noFill/>
          <a:ln/>
        </p:spPr>
        <p:txBody>
          <a:bodyPr wrap="square" lIns="0" tIns="0" rIns="0" bIns="0" rtlCol="0" anchor="t"/>
          <a:lstStyle/>
          <a:p>
            <a:pPr indent="0" marL="0">
              <a:buNone/>
            </a:pPr>
            <a:r>
              <a:rPr lang="en-US" sz="1300" dirty="0">
                <a:solidFill>
                  <a:schemeClr val="accent5"/>
                </a:solidFill>
              </a:rPr>
              <a:t>“While you slept”: searches, samples, posts and messages, also sent to Telegram.</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bg1"/>
                </a:solidFill>
              </a:rPr>
              <a:t>Watch your team work, approve from your phone</a:t>
            </a:r>
            <a:endParaRPr lang="en-US" sz="3200" dirty="0"/>
          </a:p>
        </p:txBody>
      </p:sp>
      <p:pic>
        <p:nvPicPr>
          <p:cNvPr id="3" name="live map screenshot" descr="C:\Users\ramya\AppData\Local\Temp\deck\shots\map.png">    </p:cNvPr>
          <p:cNvPicPr>
            <a:picLocks noChangeAspect="1"/>
          </p:cNvPicPr>
          <p:nvPr/>
        </p:nvPicPr>
        <p:blipFill>
          <a:blip r:embed="rId1"/>
          <a:stretch>
            <a:fillRect/>
          </a:stretch>
        </p:blipFill>
        <p:spPr>
          <a:xfrm>
            <a:off x="548640" y="1417320"/>
            <a:ext cx="6949440" cy="4343400"/>
          </a:xfrm>
          <a:prstGeom prst="rect">
            <a:avLst/>
          </a:prstGeom>
          <a:effectLst>
            <a:outerShdw sx="100000" sy="100000" kx="0" ky="0" algn="bl" rotWithShape="0" blurRad="228600" dist="50800" dir="5400000">
              <a:srgbClr val="000000">
                <a:alpha val="25000"/>
              </a:srgbClr>
            </a:outerShdw>
          </a:effectLst>
        </p:spPr>
      </p:pic>
      <p:sp>
        <p:nvSpPr>
          <p:cNvPr id="4" name="icon circle"/>
          <p:cNvSpPr/>
          <p:nvPr/>
        </p:nvSpPr>
        <p:spPr>
          <a:xfrm>
            <a:off x="7863840" y="1463040"/>
            <a:ext cx="566928" cy="566928"/>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2"/>
          <a:stretch>
            <a:fillRect/>
          </a:stretch>
        </p:blipFill>
        <p:spPr>
          <a:xfrm>
            <a:off x="7988564" y="1587764"/>
            <a:ext cx="317480" cy="317480"/>
          </a:xfrm>
          <a:prstGeom prst="rect">
            <a:avLst/>
          </a:prstGeom>
        </p:spPr>
      </p:pic>
      <p:sp>
        <p:nvSpPr>
          <p:cNvPr id="6" name="Text 2"/>
          <p:cNvSpPr txBox="1"/>
          <p:nvPr/>
        </p:nvSpPr>
        <p:spPr>
          <a:xfrm>
            <a:off x="8641080" y="141732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Live map</a:t>
            </a:r>
            <a:endParaRPr lang="en-US" sz="1800" dirty="0"/>
          </a:p>
        </p:txBody>
      </p:sp>
      <p:sp>
        <p:nvSpPr>
          <p:cNvPr id="7" name="Text 3"/>
          <p:cNvSpPr txBox="1"/>
          <p:nvPr/>
        </p:nvSpPr>
        <p:spPr>
          <a:xfrm>
            <a:off x="8641080" y="1828800"/>
            <a:ext cx="3017520" cy="914400"/>
          </a:xfrm>
          <a:prstGeom prst="rect">
            <a:avLst/>
          </a:prstGeom>
          <a:noFill/>
          <a:ln/>
        </p:spPr>
        <p:txBody>
          <a:bodyPr wrap="square" lIns="0" tIns="0" rIns="0" bIns="0" rtlCol="0" anchor="t"/>
          <a:lstStyle/>
          <a:p>
            <a:pPr indent="0" marL="0">
              <a:buNone/>
            </a:pPr>
            <a:r>
              <a:rPr lang="en-US" sz="1300" dirty="0">
                <a:solidFill>
                  <a:srgbClr val="C9D1E3"/>
                </a:solidFill>
              </a:rPr>
              <a:t>3D Pozaka Street with the real time and live weather. The city grows as you win work.</a:t>
            </a:r>
            <a:endParaRPr lang="en-US" sz="1300" dirty="0"/>
          </a:p>
        </p:txBody>
      </p:sp>
      <p:sp>
        <p:nvSpPr>
          <p:cNvPr id="8" name="icon circle"/>
          <p:cNvSpPr/>
          <p:nvPr/>
        </p:nvSpPr>
        <p:spPr>
          <a:xfrm>
            <a:off x="7863840" y="2926080"/>
            <a:ext cx="566928" cy="566928"/>
          </a:xfrm>
          <a:prstGeom prst="ellipse">
            <a:avLst/>
          </a:prstGeom>
          <a:solidFill>
            <a:schemeClr val="accent1"/>
          </a:solidFill>
          <a:ln w="12700">
            <a:solidFill>
              <a:schemeClr val="accent1"/>
            </a:solidFill>
            <a:prstDash val="solid"/>
          </a:ln>
        </p:spPr>
      </p:sp>
      <p:pic>
        <p:nvPicPr>
          <p:cNvPr id="9" name="icon" descr="preencoded.png">    </p:cNvPr>
          <p:cNvPicPr>
            <a:picLocks noChangeAspect="1"/>
          </p:cNvPicPr>
          <p:nvPr/>
        </p:nvPicPr>
        <p:blipFill>
          <a:blip r:embed="rId3"/>
          <a:stretch>
            <a:fillRect/>
          </a:stretch>
        </p:blipFill>
        <p:spPr>
          <a:xfrm>
            <a:off x="7988564" y="3050804"/>
            <a:ext cx="317480" cy="317480"/>
          </a:xfrm>
          <a:prstGeom prst="rect">
            <a:avLst/>
          </a:prstGeom>
        </p:spPr>
      </p:pic>
      <p:sp>
        <p:nvSpPr>
          <p:cNvPr id="10" name="Text 5"/>
          <p:cNvSpPr txBox="1"/>
          <p:nvPr/>
        </p:nvSpPr>
        <p:spPr>
          <a:xfrm>
            <a:off x="8641080" y="288036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Phone app</a:t>
            </a:r>
            <a:endParaRPr lang="en-US" sz="1800" dirty="0"/>
          </a:p>
        </p:txBody>
      </p:sp>
      <p:sp>
        <p:nvSpPr>
          <p:cNvPr id="11" name="Text 6"/>
          <p:cNvSpPr txBox="1"/>
          <p:nvPr/>
        </p:nvSpPr>
        <p:spPr>
          <a:xfrm>
            <a:off x="8641080" y="3291840"/>
            <a:ext cx="3017520" cy="914400"/>
          </a:xfrm>
          <a:prstGeom prst="rect">
            <a:avLst/>
          </a:prstGeom>
          <a:noFill/>
          <a:ln/>
        </p:spPr>
        <p:txBody>
          <a:bodyPr wrap="square" lIns="0" tIns="0" rIns="0" bIns="0" rtlCol="0" anchor="t"/>
          <a:lstStyle/>
          <a:p>
            <a:pPr indent="0" marL="0">
              <a:buNone/>
            </a:pPr>
            <a:r>
              <a:rPr lang="en-US" sz="1300" dirty="0">
                <a:solidFill>
                  <a:srgbClr val="C9D1E3"/>
                </a:solidFill>
              </a:rPr>
              <a:t>Pair by QR. Awake/Sleep, approve samples, messages and posts, open WhatsApp in one tap.</a:t>
            </a:r>
            <a:endParaRPr lang="en-US" sz="1300" dirty="0"/>
          </a:p>
        </p:txBody>
      </p:sp>
      <p:sp>
        <p:nvSpPr>
          <p:cNvPr id="12" name="icon circle"/>
          <p:cNvSpPr/>
          <p:nvPr/>
        </p:nvSpPr>
        <p:spPr>
          <a:xfrm>
            <a:off x="7863840" y="4389120"/>
            <a:ext cx="566928" cy="566928"/>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4"/>
          <a:stretch>
            <a:fillRect/>
          </a:stretch>
        </p:blipFill>
        <p:spPr>
          <a:xfrm>
            <a:off x="7988564" y="4513844"/>
            <a:ext cx="317480" cy="317480"/>
          </a:xfrm>
          <a:prstGeom prst="rect">
            <a:avLst/>
          </a:prstGeom>
        </p:spPr>
      </p:pic>
      <p:sp>
        <p:nvSpPr>
          <p:cNvPr id="14" name="Text 8"/>
          <p:cNvSpPr txBox="1"/>
          <p:nvPr/>
        </p:nvSpPr>
        <p:spPr>
          <a:xfrm>
            <a:off x="8641080" y="4343400"/>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3 languages</a:t>
            </a:r>
            <a:endParaRPr lang="en-US" sz="1800" dirty="0"/>
          </a:p>
        </p:txBody>
      </p:sp>
      <p:sp>
        <p:nvSpPr>
          <p:cNvPr id="15" name="Text 9"/>
          <p:cNvSpPr txBox="1"/>
          <p:nvPr/>
        </p:nvSpPr>
        <p:spPr>
          <a:xfrm>
            <a:off x="8641080" y="4754880"/>
            <a:ext cx="3017520" cy="914400"/>
          </a:xfrm>
          <a:prstGeom prst="rect">
            <a:avLst/>
          </a:prstGeom>
          <a:noFill/>
          <a:ln/>
        </p:spPr>
        <p:txBody>
          <a:bodyPr wrap="square" lIns="0" tIns="0" rIns="0" bIns="0" rtlCol="0" anchor="t"/>
          <a:lstStyle/>
          <a:p>
            <a:pPr indent="0" marL="0">
              <a:buNone/>
            </a:pPr>
            <a:r>
              <a:rPr lang="en-US" sz="1300" dirty="0">
                <a:solidFill>
                  <a:srgbClr val="C9D1E3"/>
                </a:solidFill>
              </a:rPr>
              <a:t>Everything in Kurdish Sorani, Arabic and English, right-to-left done properly.</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AI does the work, the human only decides</a:t>
            </a:r>
            <a:endParaRPr lang="en-US" sz="3200" dirty="0"/>
          </a:p>
        </p:txBody>
      </p:sp>
      <p:sp>
        <p:nvSpPr>
          <p:cNvPr id="3" name="Text 1"/>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800" dirty="0">
                <a:solidFill>
                  <a:schemeClr val="accent5"/>
                </a:solidFill>
              </a:rPr>
              <a:t>Two independent AI checks keep it honest: the Analyst before building, the Judge before anything goes out</a:t>
            </a:r>
            <a:endParaRPr lang="en-US" sz="1800" dirty="0"/>
          </a:p>
        </p:txBody>
      </p:sp>
      <p:sp>
        <p:nvSpPr>
          <p:cNvPr id="4" name="card"/>
          <p:cNvSpPr/>
          <p:nvPr/>
        </p:nvSpPr>
        <p:spPr>
          <a:xfrm>
            <a:off x="548640" y="20116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5" name="Text 3"/>
          <p:cNvSpPr txBox="1"/>
          <p:nvPr/>
        </p:nvSpPr>
        <p:spPr>
          <a:xfrm>
            <a:off x="777240" y="20116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Finding buying signals</a:t>
            </a:r>
            <a:endParaRPr lang="en-US" sz="1500" dirty="0"/>
          </a:p>
        </p:txBody>
      </p:sp>
      <p:sp>
        <p:nvSpPr>
          <p:cNvPr id="6" name="card"/>
          <p:cNvSpPr/>
          <p:nvPr/>
        </p:nvSpPr>
        <p:spPr>
          <a:xfrm>
            <a:off x="3337560" y="20116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7" name="Text 5"/>
          <p:cNvSpPr txBox="1"/>
          <p:nvPr/>
        </p:nvSpPr>
        <p:spPr>
          <a:xfrm>
            <a:off x="3566160" y="20116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Checking facts</a:t>
            </a:r>
            <a:endParaRPr lang="en-US" sz="1500" dirty="0"/>
          </a:p>
        </p:txBody>
      </p:sp>
      <p:sp>
        <p:nvSpPr>
          <p:cNvPr id="8" name="card"/>
          <p:cNvSpPr/>
          <p:nvPr/>
        </p:nvSpPr>
        <p:spPr>
          <a:xfrm>
            <a:off x="6126480" y="20116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9" name="Text 7"/>
          <p:cNvSpPr txBox="1"/>
          <p:nvPr/>
        </p:nvSpPr>
        <p:spPr>
          <a:xfrm>
            <a:off x="6355080" y="20116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Scoring clients</a:t>
            </a:r>
            <a:endParaRPr lang="en-US" sz="1500" dirty="0"/>
          </a:p>
        </p:txBody>
      </p:sp>
      <p:sp>
        <p:nvSpPr>
          <p:cNvPr id="10" name="card"/>
          <p:cNvSpPr/>
          <p:nvPr/>
        </p:nvSpPr>
        <p:spPr>
          <a:xfrm>
            <a:off x="8915400" y="20116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1" name="Text 9"/>
          <p:cNvSpPr txBox="1"/>
          <p:nvPr/>
        </p:nvSpPr>
        <p:spPr>
          <a:xfrm>
            <a:off x="9144000" y="20116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Making the sample</a:t>
            </a:r>
            <a:endParaRPr lang="en-US" sz="1500" dirty="0"/>
          </a:p>
        </p:txBody>
      </p:sp>
      <p:sp>
        <p:nvSpPr>
          <p:cNvPr id="12" name="card"/>
          <p:cNvSpPr/>
          <p:nvPr/>
        </p:nvSpPr>
        <p:spPr>
          <a:xfrm>
            <a:off x="548640" y="29260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3" name="Text 11"/>
          <p:cNvSpPr txBox="1"/>
          <p:nvPr/>
        </p:nvSpPr>
        <p:spPr>
          <a:xfrm>
            <a:off x="777240" y="29260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Planning and designing posts</a:t>
            </a:r>
            <a:endParaRPr lang="en-US" sz="1500" dirty="0"/>
          </a:p>
        </p:txBody>
      </p:sp>
      <p:sp>
        <p:nvSpPr>
          <p:cNvPr id="14" name="card"/>
          <p:cNvSpPr/>
          <p:nvPr/>
        </p:nvSpPr>
        <p:spPr>
          <a:xfrm>
            <a:off x="3337560" y="29260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5" name="Text 13"/>
          <p:cNvSpPr txBox="1"/>
          <p:nvPr/>
        </p:nvSpPr>
        <p:spPr>
          <a:xfrm>
            <a:off x="3566160" y="29260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Writing in Sorani</a:t>
            </a:r>
            <a:endParaRPr lang="en-US" sz="1500" dirty="0"/>
          </a:p>
        </p:txBody>
      </p:sp>
      <p:sp>
        <p:nvSpPr>
          <p:cNvPr id="16" name="card"/>
          <p:cNvSpPr/>
          <p:nvPr/>
        </p:nvSpPr>
        <p:spPr>
          <a:xfrm>
            <a:off x="6126480" y="29260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7" name="Text 15"/>
          <p:cNvSpPr txBox="1"/>
          <p:nvPr/>
        </p:nvSpPr>
        <p:spPr>
          <a:xfrm>
            <a:off x="6355080" y="29260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Answering replies</a:t>
            </a:r>
            <a:endParaRPr lang="en-US" sz="1500" dirty="0"/>
          </a:p>
        </p:txBody>
      </p:sp>
      <p:sp>
        <p:nvSpPr>
          <p:cNvPr id="18" name="card"/>
          <p:cNvSpPr/>
          <p:nvPr/>
        </p:nvSpPr>
        <p:spPr>
          <a:xfrm>
            <a:off x="8915400" y="2926080"/>
            <a:ext cx="26060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9" name="Text 17"/>
          <p:cNvSpPr txBox="1"/>
          <p:nvPr/>
        </p:nvSpPr>
        <p:spPr>
          <a:xfrm>
            <a:off x="9144000" y="2926080"/>
            <a:ext cx="2240280" cy="731520"/>
          </a:xfrm>
          <a:prstGeom prst="rect">
            <a:avLst/>
          </a:prstGeom>
          <a:noFill/>
          <a:ln/>
        </p:spPr>
        <p:txBody>
          <a:bodyPr wrap="square" lIns="0" tIns="0" rIns="0" bIns="0" rtlCol="0" anchor="ctr"/>
          <a:lstStyle/>
          <a:p>
            <a:pPr indent="0" marL="0">
              <a:buNone/>
            </a:pPr>
            <a:r>
              <a:rPr lang="en-US" sz="1500" b="1" dirty="0">
                <a:solidFill>
                  <a:schemeClr val="tx1"/>
                </a:solidFill>
              </a:rPr>
              <a:t>Judging safety</a:t>
            </a:r>
            <a:endParaRPr lang="en-US" sz="1500" dirty="0"/>
          </a:p>
        </p:txBody>
      </p:sp>
      <p:sp>
        <p:nvSpPr>
          <p:cNvPr id="20" name="built card"/>
          <p:cNvSpPr/>
          <p:nvPr/>
        </p:nvSpPr>
        <p:spPr>
          <a:xfrm>
            <a:off x="548640" y="4023360"/>
            <a:ext cx="11064240" cy="2103120"/>
          </a:xfrm>
          <a:prstGeom prst="roundRect">
            <a:avLst>
              <a:gd name="adj" fmla="val 5217"/>
            </a:avLst>
          </a:prstGeom>
          <a:solidFill>
            <a:schemeClr val="tx2"/>
          </a:solidFill>
          <a:ln w="12700">
            <a:solidFill>
              <a:schemeClr val="tx2"/>
            </a:solidFill>
            <a:prstDash val="solid"/>
          </a:ln>
          <a:effectLst>
            <a:outerShdw sx="100000" sy="100000" kx="0" ky="0" algn="bl" rotWithShape="0" blurRad="228600" dist="50800" dir="5400000">
              <a:srgbClr val="000000">
                <a:alpha val="25000"/>
              </a:srgbClr>
            </a:outerShdw>
          </a:effectLst>
        </p:spPr>
      </p:sp>
      <p:sp>
        <p:nvSpPr>
          <p:cNvPr id="21" name="Text 19"/>
          <p:cNvSpPr txBox="1"/>
          <p:nvPr/>
        </p:nvSpPr>
        <p:spPr>
          <a:xfrm>
            <a:off x="868680" y="4206240"/>
            <a:ext cx="5486400" cy="411480"/>
          </a:xfrm>
          <a:prstGeom prst="rect">
            <a:avLst/>
          </a:prstGeom>
          <a:noFill/>
          <a:ln/>
        </p:spPr>
        <p:txBody>
          <a:bodyPr wrap="square" lIns="0" tIns="0" rIns="0" bIns="0" rtlCol="0" anchor="ctr"/>
          <a:lstStyle/>
          <a:p>
            <a:pPr indent="0" marL="0">
              <a:buNone/>
            </a:pPr>
            <a:r>
              <a:rPr lang="en-US" sz="1800" b="1" dirty="0">
                <a:solidFill>
                  <a:schemeClr val="accent1"/>
                </a:solidFill>
              </a:rPr>
              <a:t>Built during the 2 hackathon days</a:t>
            </a:r>
            <a:endParaRPr lang="en-US" sz="1800" dirty="0"/>
          </a:p>
        </p:txBody>
      </p:sp>
      <p:sp>
        <p:nvSpPr>
          <p:cNvPr id="22" name="Text 20"/>
          <p:cNvSpPr txBox="1"/>
          <p:nvPr/>
        </p:nvSpPr>
        <p:spPr>
          <a:xfrm>
            <a:off x="868680" y="4663440"/>
            <a:ext cx="512064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1"/>
                </a:solidFill>
              </a:rPr>
              <a:t>Grow mode + Content creator</a:t>
            </a:r>
            <a:endParaRPr lang="en-US" sz="1500" dirty="0"/>
          </a:p>
          <a:p>
            <a:pPr marL="342900" indent="-342900">
              <a:spcAft>
                <a:spcPts val="400"/>
              </a:spcAft>
              <a:buSzPct val="100000"/>
              <a:buChar char="•"/>
            </a:pPr>
            <a:r>
              <a:rPr lang="en-US" sz="1500" dirty="0">
                <a:solidFill>
                  <a:schemeClr val="bg1"/>
                </a:solidFill>
              </a:rPr>
              <a:t>AI Judge + Sleep mode</a:t>
            </a:r>
            <a:endParaRPr lang="en-US" sz="1500" dirty="0"/>
          </a:p>
          <a:p>
            <a:pPr marL="342900" indent="-342900">
              <a:spcAft>
                <a:spcPts val="400"/>
              </a:spcAft>
              <a:buSzPct val="100000"/>
              <a:buChar char="•"/>
            </a:pPr>
            <a:r>
              <a:rPr lang="en-US" sz="1500" dirty="0">
                <a:solidFill>
                  <a:schemeClr val="bg1"/>
                </a:solidFill>
              </a:rPr>
              <a:t>Setup for any business</a:t>
            </a:r>
            <a:endParaRPr lang="en-US" sz="1500" dirty="0"/>
          </a:p>
        </p:txBody>
      </p:sp>
      <p:sp>
        <p:nvSpPr>
          <p:cNvPr id="23" name="Text 21"/>
          <p:cNvSpPr txBox="1"/>
          <p:nvPr/>
        </p:nvSpPr>
        <p:spPr>
          <a:xfrm>
            <a:off x="6126480" y="4663440"/>
            <a:ext cx="530352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1"/>
                </a:solidFill>
              </a:rPr>
              <a:t>Phone app (Android)</a:t>
            </a:r>
            <a:endParaRPr lang="en-US" sz="1500" dirty="0"/>
          </a:p>
          <a:p>
            <a:pPr marL="342900" indent="-342900">
              <a:spcAft>
                <a:spcPts val="400"/>
              </a:spcAft>
              <a:buSzPct val="100000"/>
              <a:buChar char="•"/>
            </a:pPr>
            <a:r>
              <a:rPr lang="en-US" sz="1500" dirty="0">
                <a:solidFill>
                  <a:schemeClr val="bg1"/>
                </a:solidFill>
              </a:rPr>
              <a:t>Kurdish / Arabic / English</a:t>
            </a:r>
            <a:endParaRPr lang="en-US" sz="1500" dirty="0"/>
          </a:p>
          <a:p>
            <a:pPr marL="342900" indent="-342900">
              <a:spcAft>
                <a:spcPts val="400"/>
              </a:spcAft>
              <a:buSzPct val="100000"/>
              <a:buChar char="•"/>
            </a:pPr>
            <a:r>
              <a:rPr lang="en-US" sz="1500" dirty="0">
                <a:solidFill>
                  <a:schemeClr val="bg1"/>
                </a:solidFill>
              </a:rPr>
              <a:t>Jump HQ Cloud: sign-up, plans, owner view</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A monthly subscription, profitable from the first customer</a:t>
            </a:r>
            <a:endParaRPr lang="en-US" sz="3200" dirty="0"/>
          </a:p>
        </p:txBody>
      </p:sp>
      <p:sp>
        <p:nvSpPr>
          <p:cNvPr id="3" name="Text 1"/>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800" dirty="0">
                <a:solidFill>
                  <a:schemeClr val="accent5"/>
                </a:solidFill>
              </a:rPr>
              <a:t>No install, no AI account: the agents run on our key, and plan limits cap each customer’s cost.</a:t>
            </a:r>
            <a:endParaRPr lang="en-US" sz="1800" dirty="0"/>
          </a:p>
        </p:txBody>
      </p:sp>
      <p:sp>
        <p:nvSpPr>
          <p:cNvPr id="4" name="card"/>
          <p:cNvSpPr/>
          <p:nvPr/>
        </p:nvSpPr>
        <p:spPr>
          <a:xfrm>
            <a:off x="548640" y="2057400"/>
            <a:ext cx="2331720" cy="2743200"/>
          </a:xfrm>
          <a:prstGeom prst="roundRect">
            <a:avLst>
              <a:gd name="adj" fmla="val 470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5" name="Text 3"/>
          <p:cNvSpPr txBox="1"/>
          <p:nvPr/>
        </p:nvSpPr>
        <p:spPr>
          <a:xfrm>
            <a:off x="777240" y="224028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Free trial</a:t>
            </a:r>
            <a:endParaRPr lang="en-US" sz="1600" dirty="0"/>
          </a:p>
        </p:txBody>
      </p:sp>
      <p:sp>
        <p:nvSpPr>
          <p:cNvPr id="6" name="Text 4"/>
          <p:cNvSpPr txBox="1"/>
          <p:nvPr/>
        </p:nvSpPr>
        <p:spPr>
          <a:xfrm>
            <a:off x="777240" y="2651760"/>
            <a:ext cx="1920240" cy="822960"/>
          </a:xfrm>
          <a:prstGeom prst="rect">
            <a:avLst/>
          </a:prstGeom>
          <a:noFill/>
          <a:ln/>
        </p:spPr>
        <p:txBody>
          <a:bodyPr wrap="square" lIns="0" tIns="0" rIns="0" bIns="0" rtlCol="0" anchor="ctr"/>
          <a:lstStyle/>
          <a:p>
            <a:pPr indent="0" marL="0">
              <a:buNone/>
            </a:pPr>
            <a:r>
              <a:rPr lang="en-US" sz="4800" b="1" dirty="0">
                <a:solidFill>
                  <a:schemeClr val="tx1"/>
                </a:solidFill>
              </a:rPr>
              <a:t>$0</a:t>
            </a:r>
            <a:endParaRPr lang="en-US" sz="4800" dirty="0"/>
          </a:p>
        </p:txBody>
      </p:sp>
      <p:sp>
        <p:nvSpPr>
          <p:cNvPr id="7" name="Text 5"/>
          <p:cNvSpPr txBox="1"/>
          <p:nvPr/>
        </p:nvSpPr>
        <p:spPr>
          <a:xfrm>
            <a:off x="777240" y="3474720"/>
            <a:ext cx="1920240" cy="320040"/>
          </a:xfrm>
          <a:prstGeom prst="rect">
            <a:avLst/>
          </a:prstGeom>
          <a:noFill/>
          <a:ln/>
        </p:spPr>
        <p:txBody>
          <a:bodyPr wrap="square" lIns="0" tIns="0" rIns="0" bIns="0" rtlCol="0" anchor="ctr"/>
          <a:lstStyle/>
          <a:p>
            <a:pPr indent="0" marL="0">
              <a:buNone/>
            </a:pPr>
            <a:r>
              <a:rPr lang="en-US" sz="1200" dirty="0">
                <a:solidFill>
                  <a:schemeClr val="accent5"/>
                </a:solidFill>
              </a:rPr>
              <a:t>for 7 days</a:t>
            </a:r>
            <a:endParaRPr lang="en-US" sz="1200" dirty="0"/>
          </a:p>
        </p:txBody>
      </p:sp>
      <p:sp>
        <p:nvSpPr>
          <p:cNvPr id="8" name="Text 6"/>
          <p:cNvSpPr txBox="1"/>
          <p:nvPr/>
        </p:nvSpPr>
        <p:spPr>
          <a:xfrm>
            <a:off x="777240" y="3886200"/>
            <a:ext cx="1920240" cy="777240"/>
          </a:xfrm>
          <a:prstGeom prst="rect">
            <a:avLst/>
          </a:prstGeom>
          <a:noFill/>
          <a:ln/>
        </p:spPr>
        <p:txBody>
          <a:bodyPr wrap="square" lIns="0" tIns="0" rIns="0" bIns="0" rtlCol="0" anchor="t"/>
          <a:lstStyle/>
          <a:p>
            <a:pPr indent="0" marL="0">
              <a:buNone/>
            </a:pPr>
            <a:r>
              <a:rPr lang="en-US" sz="1300" dirty="0">
                <a:solidFill>
                  <a:schemeClr val="accent5"/>
                </a:solidFill>
              </a:rPr>
              <a:t>Try both modes</a:t>
            </a:r>
            <a:endParaRPr lang="en-US" sz="1300" dirty="0"/>
          </a:p>
        </p:txBody>
      </p:sp>
      <p:sp>
        <p:nvSpPr>
          <p:cNvPr id="9" name="card"/>
          <p:cNvSpPr/>
          <p:nvPr/>
        </p:nvSpPr>
        <p:spPr>
          <a:xfrm>
            <a:off x="3063240" y="2057400"/>
            <a:ext cx="2331720" cy="2743200"/>
          </a:xfrm>
          <a:prstGeom prst="roundRect">
            <a:avLst>
              <a:gd name="adj" fmla="val 4706"/>
            </a:avLst>
          </a:prstGeom>
          <a:solidFill>
            <a:schemeClr val="tx2"/>
          </a:solidFill>
          <a:ln w="12700">
            <a:solidFill>
              <a:schemeClr val="tx2"/>
            </a:solidFill>
            <a:prstDash val="solid"/>
          </a:ln>
          <a:effectLst>
            <a:outerShdw sx="100000" sy="100000" kx="0" ky="0" algn="bl" rotWithShape="0" blurRad="228600" dist="50800" dir="5400000">
              <a:srgbClr val="000000">
                <a:alpha val="25000"/>
              </a:srgbClr>
            </a:outerShdw>
          </a:effectLst>
        </p:spPr>
      </p:sp>
      <p:sp>
        <p:nvSpPr>
          <p:cNvPr id="10" name="Text 8"/>
          <p:cNvSpPr txBox="1"/>
          <p:nvPr/>
        </p:nvSpPr>
        <p:spPr>
          <a:xfrm>
            <a:off x="3291840" y="2240280"/>
            <a:ext cx="1920240" cy="365760"/>
          </a:xfrm>
          <a:prstGeom prst="rect">
            <a:avLst/>
          </a:prstGeom>
          <a:noFill/>
          <a:ln/>
        </p:spPr>
        <p:txBody>
          <a:bodyPr wrap="square" lIns="0" tIns="0" rIns="0" bIns="0" rtlCol="0" anchor="ctr"/>
          <a:lstStyle/>
          <a:p>
            <a:pPr indent="0" marL="0">
              <a:buNone/>
            </a:pPr>
            <a:r>
              <a:rPr lang="en-US" sz="1600" b="1" dirty="0">
                <a:solidFill>
                  <a:schemeClr val="accent1"/>
                </a:solidFill>
              </a:rPr>
              <a:t>Pro</a:t>
            </a:r>
            <a:endParaRPr lang="en-US" sz="1600" dirty="0"/>
          </a:p>
        </p:txBody>
      </p:sp>
      <p:sp>
        <p:nvSpPr>
          <p:cNvPr id="11" name="Text 9"/>
          <p:cNvSpPr txBox="1"/>
          <p:nvPr/>
        </p:nvSpPr>
        <p:spPr>
          <a:xfrm>
            <a:off x="3291840" y="2651760"/>
            <a:ext cx="1920240" cy="822960"/>
          </a:xfrm>
          <a:prstGeom prst="rect">
            <a:avLst/>
          </a:prstGeom>
          <a:noFill/>
          <a:ln/>
        </p:spPr>
        <p:txBody>
          <a:bodyPr wrap="square" lIns="0" tIns="0" rIns="0" bIns="0" rtlCol="0" anchor="ctr"/>
          <a:lstStyle/>
          <a:p>
            <a:pPr indent="0" marL="0">
              <a:buNone/>
            </a:pPr>
            <a:r>
              <a:rPr lang="en-US" sz="4800" b="1" dirty="0">
                <a:solidFill>
                  <a:schemeClr val="bg1"/>
                </a:solidFill>
              </a:rPr>
              <a:t>$20</a:t>
            </a:r>
            <a:endParaRPr lang="en-US" sz="4800" dirty="0"/>
          </a:p>
        </p:txBody>
      </p:sp>
      <p:sp>
        <p:nvSpPr>
          <p:cNvPr id="12" name="Text 10"/>
          <p:cNvSpPr txBox="1"/>
          <p:nvPr/>
        </p:nvSpPr>
        <p:spPr>
          <a:xfrm>
            <a:off x="3291840" y="3474720"/>
            <a:ext cx="1920240" cy="320040"/>
          </a:xfrm>
          <a:prstGeom prst="rect">
            <a:avLst/>
          </a:prstGeom>
          <a:noFill/>
          <a:ln/>
        </p:spPr>
        <p:txBody>
          <a:bodyPr wrap="square" lIns="0" tIns="0" rIns="0" bIns="0" rtlCol="0" anchor="ctr"/>
          <a:lstStyle/>
          <a:p>
            <a:pPr indent="0" marL="0">
              <a:buNone/>
            </a:pPr>
            <a:r>
              <a:rPr lang="en-US" sz="1200" dirty="0">
                <a:solidFill>
                  <a:srgbClr val="C9D1E3"/>
                </a:solidFill>
              </a:rPr>
              <a:t>a month · ≈26,000 IQD</a:t>
            </a:r>
            <a:endParaRPr lang="en-US" sz="1200" dirty="0"/>
          </a:p>
        </p:txBody>
      </p:sp>
      <p:sp>
        <p:nvSpPr>
          <p:cNvPr id="13" name="Text 11"/>
          <p:cNvSpPr txBox="1"/>
          <p:nvPr/>
        </p:nvSpPr>
        <p:spPr>
          <a:xfrm>
            <a:off x="3291840" y="3886200"/>
            <a:ext cx="1920240" cy="777240"/>
          </a:xfrm>
          <a:prstGeom prst="rect">
            <a:avLst/>
          </a:prstGeom>
          <a:noFill/>
          <a:ln/>
        </p:spPr>
        <p:txBody>
          <a:bodyPr wrap="square" lIns="0" tIns="0" rIns="0" bIns="0" rtlCol="0" anchor="t"/>
          <a:lstStyle/>
          <a:p>
            <a:pPr indent="0" marL="0">
              <a:buNone/>
            </a:pPr>
            <a:r>
              <a:rPr lang="en-US" sz="1300" dirty="0">
                <a:solidFill>
                  <a:srgbClr val="C9D1E3"/>
                </a:solidFill>
              </a:rPr>
              <a:t>One freelancer or shop · 25 team jobs a day</a:t>
            </a:r>
            <a:endParaRPr lang="en-US" sz="1300" dirty="0"/>
          </a:p>
        </p:txBody>
      </p:sp>
      <p:sp>
        <p:nvSpPr>
          <p:cNvPr id="14" name="card"/>
          <p:cNvSpPr/>
          <p:nvPr/>
        </p:nvSpPr>
        <p:spPr>
          <a:xfrm>
            <a:off x="5577840" y="2057400"/>
            <a:ext cx="2331720" cy="2743200"/>
          </a:xfrm>
          <a:prstGeom prst="roundRect">
            <a:avLst>
              <a:gd name="adj" fmla="val 4706"/>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5" name="Text 13"/>
          <p:cNvSpPr txBox="1"/>
          <p:nvPr/>
        </p:nvSpPr>
        <p:spPr>
          <a:xfrm>
            <a:off x="5806440" y="2240280"/>
            <a:ext cx="1920240" cy="365760"/>
          </a:xfrm>
          <a:prstGeom prst="rect">
            <a:avLst/>
          </a:prstGeom>
          <a:noFill/>
          <a:ln/>
        </p:spPr>
        <p:txBody>
          <a:bodyPr wrap="square" lIns="0" tIns="0" rIns="0" bIns="0" rtlCol="0" anchor="ctr"/>
          <a:lstStyle/>
          <a:p>
            <a:pPr indent="0" marL="0">
              <a:buNone/>
            </a:pPr>
            <a:r>
              <a:rPr lang="en-US" sz="1600" b="1" dirty="0">
                <a:solidFill>
                  <a:schemeClr val="tx1"/>
                </a:solidFill>
              </a:rPr>
              <a:t>Agency</a:t>
            </a:r>
            <a:endParaRPr lang="en-US" sz="1600" dirty="0"/>
          </a:p>
        </p:txBody>
      </p:sp>
      <p:sp>
        <p:nvSpPr>
          <p:cNvPr id="16" name="Text 14"/>
          <p:cNvSpPr txBox="1"/>
          <p:nvPr/>
        </p:nvSpPr>
        <p:spPr>
          <a:xfrm>
            <a:off x="5806440" y="2651760"/>
            <a:ext cx="1920240" cy="822960"/>
          </a:xfrm>
          <a:prstGeom prst="rect">
            <a:avLst/>
          </a:prstGeom>
          <a:noFill/>
          <a:ln/>
        </p:spPr>
        <p:txBody>
          <a:bodyPr wrap="square" lIns="0" tIns="0" rIns="0" bIns="0" rtlCol="0" anchor="ctr"/>
          <a:lstStyle/>
          <a:p>
            <a:pPr indent="0" marL="0">
              <a:buNone/>
            </a:pPr>
            <a:r>
              <a:rPr lang="en-US" sz="4800" b="1" dirty="0">
                <a:solidFill>
                  <a:schemeClr val="tx1"/>
                </a:solidFill>
              </a:rPr>
              <a:t>$60</a:t>
            </a:r>
            <a:endParaRPr lang="en-US" sz="4800" dirty="0"/>
          </a:p>
        </p:txBody>
      </p:sp>
      <p:sp>
        <p:nvSpPr>
          <p:cNvPr id="17" name="Text 15"/>
          <p:cNvSpPr txBox="1"/>
          <p:nvPr/>
        </p:nvSpPr>
        <p:spPr>
          <a:xfrm>
            <a:off x="5806440" y="3474720"/>
            <a:ext cx="1920240" cy="320040"/>
          </a:xfrm>
          <a:prstGeom prst="rect">
            <a:avLst/>
          </a:prstGeom>
          <a:noFill/>
          <a:ln/>
        </p:spPr>
        <p:txBody>
          <a:bodyPr wrap="square" lIns="0" tIns="0" rIns="0" bIns="0" rtlCol="0" anchor="ctr"/>
          <a:lstStyle/>
          <a:p>
            <a:pPr indent="0" marL="0">
              <a:buNone/>
            </a:pPr>
            <a:r>
              <a:rPr lang="en-US" sz="1200" dirty="0">
                <a:solidFill>
                  <a:schemeClr val="accent5"/>
                </a:solidFill>
              </a:rPr>
              <a:t>a month · ≈78,000 IQD</a:t>
            </a:r>
            <a:endParaRPr lang="en-US" sz="1200" dirty="0"/>
          </a:p>
        </p:txBody>
      </p:sp>
      <p:sp>
        <p:nvSpPr>
          <p:cNvPr id="18" name="Text 16"/>
          <p:cNvSpPr txBox="1"/>
          <p:nvPr/>
        </p:nvSpPr>
        <p:spPr>
          <a:xfrm>
            <a:off x="5806440" y="3886200"/>
            <a:ext cx="1920240" cy="777240"/>
          </a:xfrm>
          <a:prstGeom prst="rect">
            <a:avLst/>
          </a:prstGeom>
          <a:noFill/>
          <a:ln/>
        </p:spPr>
        <p:txBody>
          <a:bodyPr wrap="square" lIns="0" tIns="0" rIns="0" bIns="0" rtlCol="0" anchor="t"/>
          <a:lstStyle/>
          <a:p>
            <a:pPr indent="0" marL="0">
              <a:buNone/>
            </a:pPr>
            <a:r>
              <a:rPr lang="en-US" sz="1300" dirty="0">
                <a:solidFill>
                  <a:schemeClr val="accent5"/>
                </a:solidFill>
              </a:rPr>
              <a:t>Agencies and teams · 80 team jobs a day</a:t>
            </a:r>
            <a:endParaRPr lang="en-US" sz="1300" dirty="0"/>
          </a:p>
        </p:txBody>
      </p:sp>
      <p:sp>
        <p:nvSpPr>
          <p:cNvPr id="19" name="Text 17"/>
          <p:cNvSpPr txBox="1"/>
          <p:nvPr/>
        </p:nvSpPr>
        <p:spPr>
          <a:xfrm>
            <a:off x="548640" y="4937760"/>
            <a:ext cx="7315200" cy="320040"/>
          </a:xfrm>
          <a:prstGeom prst="rect">
            <a:avLst/>
          </a:prstGeom>
          <a:noFill/>
          <a:ln/>
        </p:spPr>
        <p:txBody>
          <a:bodyPr wrap="square" lIns="0" tIns="0" rIns="0" bIns="0" rtlCol="0" anchor="ctr"/>
          <a:lstStyle/>
          <a:p>
            <a:pPr indent="0" marL="0">
              <a:buNone/>
            </a:pPr>
            <a:r>
              <a:rPr lang="en-US" sz="1200" dirty="0">
                <a:solidFill>
                  <a:schemeClr val="accent5"/>
                </a:solidFill>
              </a:rPr>
              <a:t>Pay with FIB, card or bank transfer (works from Iraq)</a:t>
            </a:r>
            <a:endParaRPr lang="en-US" sz="1200" dirty="0"/>
          </a:p>
        </p:txBody>
      </p:sp>
      <p:sp>
        <p:nvSpPr>
          <p:cNvPr id="20" name="Text 18"/>
          <p:cNvSpPr txBox="1"/>
          <p:nvPr/>
        </p:nvSpPr>
        <p:spPr>
          <a:xfrm>
            <a:off x="548640" y="5349240"/>
            <a:ext cx="2331720" cy="548640"/>
          </a:xfrm>
          <a:prstGeom prst="rect">
            <a:avLst/>
          </a:prstGeom>
          <a:noFill/>
          <a:ln/>
        </p:spPr>
        <p:txBody>
          <a:bodyPr wrap="square" lIns="0" tIns="0" rIns="0" bIns="0" rtlCol="0" anchor="ctr"/>
          <a:lstStyle/>
          <a:p>
            <a:pPr indent="0" marL="0">
              <a:buNone/>
            </a:pPr>
            <a:r>
              <a:rPr lang="en-US" sz="3000" b="1" dirty="0">
                <a:solidFill>
                  <a:schemeClr val="accent1"/>
                </a:solidFill>
              </a:rPr>
              <a:t>~$5</a:t>
            </a:r>
            <a:endParaRPr lang="en-US" sz="3000" dirty="0"/>
          </a:p>
        </p:txBody>
      </p:sp>
      <p:sp>
        <p:nvSpPr>
          <p:cNvPr id="21" name="Text 19"/>
          <p:cNvSpPr txBox="1"/>
          <p:nvPr/>
        </p:nvSpPr>
        <p:spPr>
          <a:xfrm>
            <a:off x="548640" y="5897880"/>
            <a:ext cx="2331720" cy="365760"/>
          </a:xfrm>
          <a:prstGeom prst="rect">
            <a:avLst/>
          </a:prstGeom>
          <a:noFill/>
          <a:ln/>
        </p:spPr>
        <p:txBody>
          <a:bodyPr wrap="square" lIns="0" tIns="0" rIns="0" bIns="0" rtlCol="0" anchor="ctr"/>
          <a:lstStyle/>
          <a:p>
            <a:pPr indent="0" marL="0">
              <a:buNone/>
            </a:pPr>
            <a:r>
              <a:rPr lang="en-US" sz="1200" dirty="0">
                <a:solidFill>
                  <a:schemeClr val="accent5"/>
                </a:solidFill>
              </a:rPr>
              <a:t>what a Pro user costs us a month</a:t>
            </a:r>
            <a:endParaRPr lang="en-US" sz="1200" dirty="0"/>
          </a:p>
        </p:txBody>
      </p:sp>
      <p:sp>
        <p:nvSpPr>
          <p:cNvPr id="22" name="Text 20"/>
          <p:cNvSpPr txBox="1"/>
          <p:nvPr/>
        </p:nvSpPr>
        <p:spPr>
          <a:xfrm>
            <a:off x="3063240" y="5349240"/>
            <a:ext cx="2331720" cy="548640"/>
          </a:xfrm>
          <a:prstGeom prst="rect">
            <a:avLst/>
          </a:prstGeom>
          <a:noFill/>
          <a:ln/>
        </p:spPr>
        <p:txBody>
          <a:bodyPr wrap="square" lIns="0" tIns="0" rIns="0" bIns="0" rtlCol="0" anchor="ctr"/>
          <a:lstStyle/>
          <a:p>
            <a:pPr indent="0" marL="0">
              <a:buNone/>
            </a:pPr>
            <a:r>
              <a:rPr lang="en-US" sz="3000" b="1" dirty="0">
                <a:solidFill>
                  <a:schemeClr val="accent1"/>
                </a:solidFill>
              </a:rPr>
              <a:t>~70%</a:t>
            </a:r>
            <a:endParaRPr lang="en-US" sz="3000" dirty="0"/>
          </a:p>
        </p:txBody>
      </p:sp>
      <p:sp>
        <p:nvSpPr>
          <p:cNvPr id="23" name="Text 21"/>
          <p:cNvSpPr txBox="1"/>
          <p:nvPr/>
        </p:nvSpPr>
        <p:spPr>
          <a:xfrm>
            <a:off x="3063240" y="5897880"/>
            <a:ext cx="2331720" cy="365760"/>
          </a:xfrm>
          <a:prstGeom prst="rect">
            <a:avLst/>
          </a:prstGeom>
          <a:noFill/>
          <a:ln/>
        </p:spPr>
        <p:txBody>
          <a:bodyPr wrap="square" lIns="0" tIns="0" rIns="0" bIns="0" rtlCol="0" anchor="ctr"/>
          <a:lstStyle/>
          <a:p>
            <a:pPr indent="0" marL="0">
              <a:buNone/>
            </a:pPr>
            <a:r>
              <a:rPr lang="en-US" sz="1200" dirty="0">
                <a:solidFill>
                  <a:schemeClr val="accent5"/>
                </a:solidFill>
              </a:rPr>
              <a:t>margin on Pro</a:t>
            </a:r>
            <a:endParaRPr lang="en-US" sz="1200" dirty="0"/>
          </a:p>
        </p:txBody>
      </p:sp>
      <p:sp>
        <p:nvSpPr>
          <p:cNvPr id="24" name="Text 22"/>
          <p:cNvSpPr txBox="1"/>
          <p:nvPr/>
        </p:nvSpPr>
        <p:spPr>
          <a:xfrm>
            <a:off x="5577840" y="5349240"/>
            <a:ext cx="2331720" cy="548640"/>
          </a:xfrm>
          <a:prstGeom prst="rect">
            <a:avLst/>
          </a:prstGeom>
          <a:noFill/>
          <a:ln/>
        </p:spPr>
        <p:txBody>
          <a:bodyPr wrap="square" lIns="0" tIns="0" rIns="0" bIns="0" rtlCol="0" anchor="ctr"/>
          <a:lstStyle/>
          <a:p>
            <a:pPr indent="0" marL="0">
              <a:buNone/>
            </a:pPr>
            <a:r>
              <a:rPr lang="en-US" sz="3000" b="1" dirty="0">
                <a:solidFill>
                  <a:schemeClr val="accent1"/>
                </a:solidFill>
              </a:rPr>
              <a:t>$0.11</a:t>
            </a:r>
            <a:endParaRPr lang="en-US" sz="3000" dirty="0"/>
          </a:p>
        </p:txBody>
      </p:sp>
      <p:sp>
        <p:nvSpPr>
          <p:cNvPr id="25" name="Text 23"/>
          <p:cNvSpPr txBox="1"/>
          <p:nvPr/>
        </p:nvSpPr>
        <p:spPr>
          <a:xfrm>
            <a:off x="5577840" y="5897880"/>
            <a:ext cx="2331720" cy="365760"/>
          </a:xfrm>
          <a:prstGeom prst="rect">
            <a:avLst/>
          </a:prstGeom>
          <a:noFill/>
          <a:ln/>
        </p:spPr>
        <p:txBody>
          <a:bodyPr wrap="square" lIns="0" tIns="0" rIns="0" bIns="0" rtlCol="0" anchor="ctr"/>
          <a:lstStyle/>
          <a:p>
            <a:pPr indent="0" marL="0">
              <a:buNone/>
            </a:pPr>
            <a:r>
              <a:rPr lang="en-US" sz="1200" dirty="0">
                <a:solidFill>
                  <a:schemeClr val="accent5"/>
                </a:solidFill>
              </a:rPr>
              <a:t>AI cost per free sample</a:t>
            </a:r>
            <a:endParaRPr lang="en-US" sz="1200" dirty="0"/>
          </a:p>
        </p:txBody>
      </p:sp>
      <p:graphicFrame>
        <p:nvGraphicFramePr>
          <p:cNvPr id="26" name="Chart 0" descr=""/>
          <p:cNvGraphicFramePr/>
          <p:nvPr/>
        </p:nvGraphicFramePr>
        <p:xfrm>
          <a:off x="8183880" y="2057400"/>
          <a:ext cx="3429000" cy="384048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txBox="1"/>
          <p:nvPr/>
        </p:nvSpPr>
        <p:spPr>
          <a:xfrm>
            <a:off x="8183880" y="5989320"/>
            <a:ext cx="3429000" cy="365760"/>
          </a:xfrm>
          <a:prstGeom prst="rect">
            <a:avLst/>
          </a:prstGeom>
          <a:noFill/>
          <a:ln/>
        </p:spPr>
        <p:txBody>
          <a:bodyPr wrap="square" lIns="0" tIns="0" rIns="0" bIns="0" rtlCol="0" anchor="ctr"/>
          <a:lstStyle/>
          <a:p>
            <a:pPr indent="0" marL="0">
              <a:buNone/>
            </a:pPr>
            <a:r>
              <a:rPr lang="en-US" sz="1000" dirty="0">
                <a:solidFill>
                  <a:schemeClr val="accent5"/>
                </a:solidFill>
              </a:rPr>
              <a:t>Month 1: 15 Pro users. Month 3: 50 Pro + 10 Agency. Projections, not results.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bg1"/>
                </a:solidFill>
              </a:rPr>
              <a:t>Live demo (phone in hand)</a:t>
            </a:r>
            <a:endParaRPr lang="en-US" sz="3200" dirty="0"/>
          </a:p>
        </p:txBody>
      </p:sp>
      <p:sp>
        <p:nvSpPr>
          <p:cNvPr id="3" name="demo step"/>
          <p:cNvSpPr/>
          <p:nvPr/>
        </p:nvSpPr>
        <p:spPr>
          <a:xfrm>
            <a:off x="548640" y="1737360"/>
            <a:ext cx="2066544" cy="2743200"/>
          </a:xfrm>
          <a:prstGeom prst="roundRect">
            <a:avLst>
              <a:gd name="adj" fmla="val 5310"/>
            </a:avLst>
          </a:prstGeom>
          <a:solidFill>
            <a:schemeClr val="accent2"/>
          </a:solidFill>
          <a:ln w="12700">
            <a:solidFill>
              <a:schemeClr val="accent2"/>
            </a:solidFill>
            <a:prstDash val="solid"/>
          </a:ln>
          <a:effectLst>
            <a:outerShdw sx="100000" sy="100000" kx="0" ky="0" algn="bl" rotWithShape="0" blurRad="228600" dist="50800" dir="5400000">
              <a:srgbClr val="000000">
                <a:alpha val="25000"/>
              </a:srgbClr>
            </a:outerShdw>
          </a:effectLst>
        </p:spPr>
      </p:sp>
      <p:sp>
        <p:nvSpPr>
          <p:cNvPr id="4" name="Text 2"/>
          <p:cNvSpPr txBox="1"/>
          <p:nvPr/>
        </p:nvSpPr>
        <p:spPr>
          <a:xfrm>
            <a:off x="777240" y="1874520"/>
            <a:ext cx="914400" cy="731520"/>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5" name="icon circle"/>
          <p:cNvSpPr/>
          <p:nvPr/>
        </p:nvSpPr>
        <p:spPr>
          <a:xfrm>
            <a:off x="1828800" y="1965960"/>
            <a:ext cx="548640" cy="548640"/>
          </a:xfrm>
          <a:prstGeom prst="ellipse">
            <a:avLst/>
          </a:prstGeom>
          <a:solidFill>
            <a:schemeClr val="bg1"/>
          </a:solidFill>
          <a:ln w="12700">
            <a:solidFill>
              <a:schemeClr val="bg1"/>
            </a:solidFill>
            <a:prstDash val="solid"/>
          </a:ln>
        </p:spPr>
      </p:sp>
      <p:pic>
        <p:nvPicPr>
          <p:cNvPr id="6" name="icon" descr="preencoded.png">    </p:cNvPr>
          <p:cNvPicPr>
            <a:picLocks noChangeAspect="1"/>
          </p:cNvPicPr>
          <p:nvPr/>
        </p:nvPicPr>
        <p:blipFill>
          <a:blip r:embed="rId1"/>
          <a:stretch>
            <a:fillRect/>
          </a:stretch>
        </p:blipFill>
        <p:spPr>
          <a:xfrm>
            <a:off x="1949501" y="2086661"/>
            <a:ext cx="307238" cy="307238"/>
          </a:xfrm>
          <a:prstGeom prst="rect">
            <a:avLst/>
          </a:prstGeom>
        </p:spPr>
      </p:pic>
      <p:sp>
        <p:nvSpPr>
          <p:cNvPr id="7" name="Text 4"/>
          <p:cNvSpPr txBox="1"/>
          <p:nvPr/>
        </p:nvSpPr>
        <p:spPr>
          <a:xfrm>
            <a:off x="777240" y="2788920"/>
            <a:ext cx="1691640" cy="731520"/>
          </a:xfrm>
          <a:prstGeom prst="rect">
            <a:avLst/>
          </a:prstGeom>
          <a:noFill/>
          <a:ln/>
        </p:spPr>
        <p:txBody>
          <a:bodyPr wrap="square" lIns="0" tIns="0" rIns="0" bIns="0" rtlCol="0" anchor="t"/>
          <a:lstStyle/>
          <a:p>
            <a:pPr indent="0" marL="0">
              <a:buNone/>
            </a:pPr>
            <a:r>
              <a:rPr lang="en-US" sz="1700" b="1" dirty="0">
                <a:solidFill>
                  <a:schemeClr val="bg1"/>
                </a:solidFill>
              </a:rPr>
              <a:t>Clients found today</a:t>
            </a:r>
            <a:endParaRPr lang="en-US" sz="1700" dirty="0"/>
          </a:p>
        </p:txBody>
      </p:sp>
      <p:sp>
        <p:nvSpPr>
          <p:cNvPr id="8" name="Text 5"/>
          <p:cNvSpPr txBox="1"/>
          <p:nvPr/>
        </p:nvSpPr>
        <p:spPr>
          <a:xfrm>
            <a:off x="777240" y="3566160"/>
            <a:ext cx="1691640" cy="1097280"/>
          </a:xfrm>
          <a:prstGeom prst="rect">
            <a:avLst/>
          </a:prstGeom>
          <a:noFill/>
          <a:ln/>
        </p:spPr>
        <p:txBody>
          <a:bodyPr wrap="square" lIns="0" tIns="0" rIns="0" bIns="0" rtlCol="0" anchor="t"/>
          <a:lstStyle/>
          <a:p>
            <a:pPr indent="0" marL="0">
              <a:buNone/>
            </a:pPr>
            <a:r>
              <a:rPr lang="en-US" sz="1300" dirty="0">
                <a:solidFill>
                  <a:srgbClr val="C9D1E3"/>
                </a:solidFill>
              </a:rPr>
              <a:t>each with the buying signal it showed</a:t>
            </a:r>
            <a:endParaRPr lang="en-US" sz="1300" dirty="0"/>
          </a:p>
        </p:txBody>
      </p:sp>
      <p:sp>
        <p:nvSpPr>
          <p:cNvPr id="9" name="demo step"/>
          <p:cNvSpPr/>
          <p:nvPr/>
        </p:nvSpPr>
        <p:spPr>
          <a:xfrm>
            <a:off x="2798064" y="1737360"/>
            <a:ext cx="2066544" cy="2743200"/>
          </a:xfrm>
          <a:prstGeom prst="roundRect">
            <a:avLst>
              <a:gd name="adj" fmla="val 5310"/>
            </a:avLst>
          </a:prstGeom>
          <a:solidFill>
            <a:schemeClr val="accent2"/>
          </a:solidFill>
          <a:ln w="12700">
            <a:solidFill>
              <a:schemeClr val="accent2"/>
            </a:solidFill>
            <a:prstDash val="solid"/>
          </a:ln>
          <a:effectLst>
            <a:outerShdw sx="100000" sy="100000" kx="0" ky="0" algn="bl" rotWithShape="0" blurRad="228600" dist="50800" dir="5400000">
              <a:srgbClr val="000000">
                <a:alpha val="25000"/>
              </a:srgbClr>
            </a:outerShdw>
          </a:effectLst>
        </p:spPr>
      </p:sp>
      <p:sp>
        <p:nvSpPr>
          <p:cNvPr id="10" name="Text 7"/>
          <p:cNvSpPr txBox="1"/>
          <p:nvPr/>
        </p:nvSpPr>
        <p:spPr>
          <a:xfrm>
            <a:off x="3026664" y="1874520"/>
            <a:ext cx="914400" cy="731520"/>
          </a:xfrm>
          <a:prstGeom prst="rect">
            <a:avLst/>
          </a:prstGeom>
          <a:noFill/>
          <a:ln/>
        </p:spPr>
        <p:txBody>
          <a:bodyPr wrap="square" lIns="0" tIns="0" rIns="0" bIns="0" rtlCol="0" anchor="ctr"/>
          <a:lstStyle/>
          <a:p>
            <a:pPr indent="0" marL="0">
              <a:buNone/>
            </a:pPr>
            <a:r>
              <a:rPr lang="en-US" sz="4000" b="1" dirty="0">
                <a:solidFill>
                  <a:schemeClr val="accent1"/>
                </a:solidFill>
              </a:rPr>
              <a:t>2</a:t>
            </a:r>
            <a:endParaRPr lang="en-US" sz="4000" dirty="0"/>
          </a:p>
        </p:txBody>
      </p:sp>
      <p:sp>
        <p:nvSpPr>
          <p:cNvPr id="11" name="icon circle"/>
          <p:cNvSpPr/>
          <p:nvPr/>
        </p:nvSpPr>
        <p:spPr>
          <a:xfrm>
            <a:off x="4078224" y="1965960"/>
            <a:ext cx="548640" cy="548640"/>
          </a:xfrm>
          <a:prstGeom prst="ellipse">
            <a:avLst/>
          </a:prstGeom>
          <a:solidFill>
            <a:schemeClr val="bg1"/>
          </a:solidFill>
          <a:ln w="12700">
            <a:solidFill>
              <a:schemeClr val="bg1"/>
            </a:solidFill>
            <a:prstDash val="solid"/>
          </a:ln>
        </p:spPr>
      </p:sp>
      <p:pic>
        <p:nvPicPr>
          <p:cNvPr id="12" name="icon" descr="preencoded.png">    </p:cNvPr>
          <p:cNvPicPr>
            <a:picLocks noChangeAspect="1"/>
          </p:cNvPicPr>
          <p:nvPr/>
        </p:nvPicPr>
        <p:blipFill>
          <a:blip r:embed="rId2"/>
          <a:stretch>
            <a:fillRect/>
          </a:stretch>
        </p:blipFill>
        <p:spPr>
          <a:xfrm>
            <a:off x="4198925" y="2086661"/>
            <a:ext cx="307238" cy="307238"/>
          </a:xfrm>
          <a:prstGeom prst="rect">
            <a:avLst/>
          </a:prstGeom>
        </p:spPr>
      </p:pic>
      <p:sp>
        <p:nvSpPr>
          <p:cNvPr id="13" name="Text 9"/>
          <p:cNvSpPr txBox="1"/>
          <p:nvPr/>
        </p:nvSpPr>
        <p:spPr>
          <a:xfrm>
            <a:off x="3026664" y="2788920"/>
            <a:ext cx="1691640" cy="731520"/>
          </a:xfrm>
          <a:prstGeom prst="rect">
            <a:avLst/>
          </a:prstGeom>
          <a:noFill/>
          <a:ln/>
        </p:spPr>
        <p:txBody>
          <a:bodyPr wrap="square" lIns="0" tIns="0" rIns="0" bIns="0" rtlCol="0" anchor="t"/>
          <a:lstStyle/>
          <a:p>
            <a:pPr indent="0" marL="0">
              <a:buNone/>
            </a:pPr>
            <a:r>
              <a:rPr lang="en-US" sz="1700" b="1" dirty="0">
                <a:solidFill>
                  <a:schemeClr val="bg1"/>
                </a:solidFill>
              </a:rPr>
              <a:t>Open a free sample</a:t>
            </a:r>
            <a:endParaRPr lang="en-US" sz="1700" dirty="0"/>
          </a:p>
        </p:txBody>
      </p:sp>
      <p:sp>
        <p:nvSpPr>
          <p:cNvPr id="14" name="Text 10"/>
          <p:cNvSpPr txBox="1"/>
          <p:nvPr/>
        </p:nvSpPr>
        <p:spPr>
          <a:xfrm>
            <a:off x="3026664" y="3566160"/>
            <a:ext cx="1691640" cy="1097280"/>
          </a:xfrm>
          <a:prstGeom prst="rect">
            <a:avLst/>
          </a:prstGeom>
          <a:noFill/>
          <a:ln/>
        </p:spPr>
        <p:txBody>
          <a:bodyPr wrap="square" lIns="0" tIns="0" rIns="0" bIns="0" rtlCol="0" anchor="t"/>
          <a:lstStyle/>
          <a:p>
            <a:pPr indent="0" marL="0">
              <a:buNone/>
            </a:pPr>
            <a:r>
              <a:rPr lang="en-US" sz="1300" dirty="0">
                <a:solidFill>
                  <a:srgbClr val="C9D1E3"/>
                </a:solidFill>
              </a:rPr>
              <a:t>see the Judge’s verdict and score</a:t>
            </a:r>
            <a:endParaRPr lang="en-US" sz="1300" dirty="0"/>
          </a:p>
        </p:txBody>
      </p:sp>
      <p:sp>
        <p:nvSpPr>
          <p:cNvPr id="15" name="demo step"/>
          <p:cNvSpPr/>
          <p:nvPr/>
        </p:nvSpPr>
        <p:spPr>
          <a:xfrm>
            <a:off x="5047488" y="1737360"/>
            <a:ext cx="2066544" cy="2743200"/>
          </a:xfrm>
          <a:prstGeom prst="roundRect">
            <a:avLst>
              <a:gd name="adj" fmla="val 5310"/>
            </a:avLst>
          </a:prstGeom>
          <a:solidFill>
            <a:schemeClr val="accent2"/>
          </a:solidFill>
          <a:ln w="12700">
            <a:solidFill>
              <a:schemeClr val="accent2"/>
            </a:solidFill>
            <a:prstDash val="solid"/>
          </a:ln>
          <a:effectLst>
            <a:outerShdw sx="100000" sy="100000" kx="0" ky="0" algn="bl" rotWithShape="0" blurRad="228600" dist="50800" dir="5400000">
              <a:srgbClr val="000000">
                <a:alpha val="25000"/>
              </a:srgbClr>
            </a:outerShdw>
          </a:effectLst>
        </p:spPr>
      </p:sp>
      <p:sp>
        <p:nvSpPr>
          <p:cNvPr id="16" name="Text 12"/>
          <p:cNvSpPr txBox="1"/>
          <p:nvPr/>
        </p:nvSpPr>
        <p:spPr>
          <a:xfrm>
            <a:off x="5276088" y="1874520"/>
            <a:ext cx="914400" cy="731520"/>
          </a:xfrm>
          <a:prstGeom prst="rect">
            <a:avLst/>
          </a:prstGeom>
          <a:noFill/>
          <a:ln/>
        </p:spPr>
        <p:txBody>
          <a:bodyPr wrap="square" lIns="0" tIns="0" rIns="0" bIns="0" rtlCol="0" anchor="ctr"/>
          <a:lstStyle/>
          <a:p>
            <a:pPr indent="0" marL="0">
              <a:buNone/>
            </a:pPr>
            <a:r>
              <a:rPr lang="en-US" sz="4000" b="1" dirty="0">
                <a:solidFill>
                  <a:schemeClr val="accent1"/>
                </a:solidFill>
              </a:rPr>
              <a:t>3</a:t>
            </a:r>
            <a:endParaRPr lang="en-US" sz="4000" dirty="0"/>
          </a:p>
        </p:txBody>
      </p:sp>
      <p:sp>
        <p:nvSpPr>
          <p:cNvPr id="17" name="icon circle"/>
          <p:cNvSpPr/>
          <p:nvPr/>
        </p:nvSpPr>
        <p:spPr>
          <a:xfrm>
            <a:off x="6327648" y="1965960"/>
            <a:ext cx="548640" cy="548640"/>
          </a:xfrm>
          <a:prstGeom prst="ellipse">
            <a:avLst/>
          </a:prstGeom>
          <a:solidFill>
            <a:schemeClr val="bg1"/>
          </a:solidFill>
          <a:ln w="12700">
            <a:solidFill>
              <a:schemeClr val="bg1"/>
            </a:solidFill>
            <a:prstDash val="solid"/>
          </a:ln>
        </p:spPr>
      </p:sp>
      <p:pic>
        <p:nvPicPr>
          <p:cNvPr id="18" name="icon" descr="preencoded.png">    </p:cNvPr>
          <p:cNvPicPr>
            <a:picLocks noChangeAspect="1"/>
          </p:cNvPicPr>
          <p:nvPr/>
        </p:nvPicPr>
        <p:blipFill>
          <a:blip r:embed="rId3"/>
          <a:stretch>
            <a:fillRect/>
          </a:stretch>
        </p:blipFill>
        <p:spPr>
          <a:xfrm>
            <a:off x="6448349" y="2086661"/>
            <a:ext cx="307238" cy="307238"/>
          </a:xfrm>
          <a:prstGeom prst="rect">
            <a:avLst/>
          </a:prstGeom>
        </p:spPr>
      </p:pic>
      <p:sp>
        <p:nvSpPr>
          <p:cNvPr id="19" name="Text 14"/>
          <p:cNvSpPr txBox="1"/>
          <p:nvPr/>
        </p:nvSpPr>
        <p:spPr>
          <a:xfrm>
            <a:off x="5276088" y="2788920"/>
            <a:ext cx="1691640" cy="731520"/>
          </a:xfrm>
          <a:prstGeom prst="rect">
            <a:avLst/>
          </a:prstGeom>
          <a:noFill/>
          <a:ln/>
        </p:spPr>
        <p:txBody>
          <a:bodyPr wrap="square" lIns="0" tIns="0" rIns="0" bIns="0" rtlCol="0" anchor="t"/>
          <a:lstStyle/>
          <a:p>
            <a:pPr indent="0" marL="0">
              <a:buNone/>
            </a:pPr>
            <a:r>
              <a:rPr lang="en-US" sz="1700" b="1" dirty="0">
                <a:solidFill>
                  <a:schemeClr val="bg1"/>
                </a:solidFill>
              </a:rPr>
              <a:t>Approve</a:t>
            </a:r>
            <a:endParaRPr lang="en-US" sz="1700" dirty="0"/>
          </a:p>
        </p:txBody>
      </p:sp>
      <p:sp>
        <p:nvSpPr>
          <p:cNvPr id="20" name="Text 15"/>
          <p:cNvSpPr txBox="1"/>
          <p:nvPr/>
        </p:nvSpPr>
        <p:spPr>
          <a:xfrm>
            <a:off x="5276088" y="3566160"/>
            <a:ext cx="1691640" cy="1097280"/>
          </a:xfrm>
          <a:prstGeom prst="rect">
            <a:avLst/>
          </a:prstGeom>
          <a:noFill/>
          <a:ln/>
        </p:spPr>
        <p:txBody>
          <a:bodyPr wrap="square" lIns="0" tIns="0" rIns="0" bIns="0" rtlCol="0" anchor="t"/>
          <a:lstStyle/>
          <a:p>
            <a:pPr indent="0" marL="0">
              <a:buNone/>
            </a:pPr>
            <a:r>
              <a:rPr lang="en-US" sz="1300" dirty="0">
                <a:solidFill>
                  <a:srgbClr val="C9D1E3"/>
                </a:solidFill>
              </a:rPr>
              <a:t>WhatsApp opens with the Sorani message ready</a:t>
            </a:r>
            <a:endParaRPr lang="en-US" sz="1300" dirty="0"/>
          </a:p>
        </p:txBody>
      </p:sp>
      <p:sp>
        <p:nvSpPr>
          <p:cNvPr id="21" name="demo step"/>
          <p:cNvSpPr/>
          <p:nvPr/>
        </p:nvSpPr>
        <p:spPr>
          <a:xfrm>
            <a:off x="7296912" y="1737360"/>
            <a:ext cx="2066544" cy="2743200"/>
          </a:xfrm>
          <a:prstGeom prst="roundRect">
            <a:avLst>
              <a:gd name="adj" fmla="val 5310"/>
            </a:avLst>
          </a:prstGeom>
          <a:solidFill>
            <a:schemeClr val="accent2"/>
          </a:solidFill>
          <a:ln w="12700">
            <a:solidFill>
              <a:schemeClr val="accent2"/>
            </a:solidFill>
            <a:prstDash val="solid"/>
          </a:ln>
          <a:effectLst>
            <a:outerShdw sx="100000" sy="100000" kx="0" ky="0" algn="bl" rotWithShape="0" blurRad="228600" dist="50800" dir="5400000">
              <a:srgbClr val="000000">
                <a:alpha val="25000"/>
              </a:srgbClr>
            </a:outerShdw>
          </a:effectLst>
        </p:spPr>
      </p:sp>
      <p:sp>
        <p:nvSpPr>
          <p:cNvPr id="22" name="Text 17"/>
          <p:cNvSpPr txBox="1"/>
          <p:nvPr/>
        </p:nvSpPr>
        <p:spPr>
          <a:xfrm>
            <a:off x="7525512" y="1874520"/>
            <a:ext cx="914400" cy="731520"/>
          </a:xfrm>
          <a:prstGeom prst="rect">
            <a:avLst/>
          </a:prstGeom>
          <a:noFill/>
          <a:ln/>
        </p:spPr>
        <p:txBody>
          <a:bodyPr wrap="square" lIns="0" tIns="0" rIns="0" bIns="0" rtlCol="0" anchor="ctr"/>
          <a:lstStyle/>
          <a:p>
            <a:pPr indent="0" marL="0">
              <a:buNone/>
            </a:pPr>
            <a:r>
              <a:rPr lang="en-US" sz="4000" b="1" dirty="0">
                <a:solidFill>
                  <a:schemeClr val="accent1"/>
                </a:solidFill>
              </a:rPr>
              <a:t>4</a:t>
            </a:r>
            <a:endParaRPr lang="en-US" sz="4000" dirty="0"/>
          </a:p>
        </p:txBody>
      </p:sp>
      <p:sp>
        <p:nvSpPr>
          <p:cNvPr id="23" name="icon circle"/>
          <p:cNvSpPr/>
          <p:nvPr/>
        </p:nvSpPr>
        <p:spPr>
          <a:xfrm>
            <a:off x="8577072" y="1965960"/>
            <a:ext cx="548640" cy="548640"/>
          </a:xfrm>
          <a:prstGeom prst="ellipse">
            <a:avLst/>
          </a:prstGeom>
          <a:solidFill>
            <a:schemeClr val="bg1"/>
          </a:solidFill>
          <a:ln w="12700">
            <a:solidFill>
              <a:schemeClr val="bg1"/>
            </a:solidFill>
            <a:prstDash val="solid"/>
          </a:ln>
        </p:spPr>
      </p:sp>
      <p:pic>
        <p:nvPicPr>
          <p:cNvPr id="24" name="icon" descr="preencoded.png">    </p:cNvPr>
          <p:cNvPicPr>
            <a:picLocks noChangeAspect="1"/>
          </p:cNvPicPr>
          <p:nvPr/>
        </p:nvPicPr>
        <p:blipFill>
          <a:blip r:embed="rId4"/>
          <a:stretch>
            <a:fillRect/>
          </a:stretch>
        </p:blipFill>
        <p:spPr>
          <a:xfrm>
            <a:off x="8697773" y="2086661"/>
            <a:ext cx="307238" cy="307238"/>
          </a:xfrm>
          <a:prstGeom prst="rect">
            <a:avLst/>
          </a:prstGeom>
        </p:spPr>
      </p:pic>
      <p:sp>
        <p:nvSpPr>
          <p:cNvPr id="25" name="Text 19"/>
          <p:cNvSpPr txBox="1"/>
          <p:nvPr/>
        </p:nvSpPr>
        <p:spPr>
          <a:xfrm>
            <a:off x="7525512" y="2788920"/>
            <a:ext cx="1691640" cy="731520"/>
          </a:xfrm>
          <a:prstGeom prst="rect">
            <a:avLst/>
          </a:prstGeom>
          <a:noFill/>
          <a:ln/>
        </p:spPr>
        <p:txBody>
          <a:bodyPr wrap="square" lIns="0" tIns="0" rIns="0" bIns="0" rtlCol="0" anchor="t"/>
          <a:lstStyle/>
          <a:p>
            <a:pPr indent="0" marL="0">
              <a:buNone/>
            </a:pPr>
            <a:r>
              <a:rPr lang="en-US" sz="1700" b="1" dirty="0">
                <a:solidFill>
                  <a:schemeClr val="bg1"/>
                </a:solidFill>
              </a:rPr>
              <a:t>Grow</a:t>
            </a:r>
            <a:endParaRPr lang="en-US" sz="1700" dirty="0"/>
          </a:p>
        </p:txBody>
      </p:sp>
      <p:sp>
        <p:nvSpPr>
          <p:cNvPr id="26" name="Text 20"/>
          <p:cNvSpPr txBox="1"/>
          <p:nvPr/>
        </p:nvSpPr>
        <p:spPr>
          <a:xfrm>
            <a:off x="7525512" y="3566160"/>
            <a:ext cx="1691640" cy="1097280"/>
          </a:xfrm>
          <a:prstGeom prst="rect">
            <a:avLst/>
          </a:prstGeom>
          <a:noFill/>
          <a:ln/>
        </p:spPr>
        <p:txBody>
          <a:bodyPr wrap="square" lIns="0" tIns="0" rIns="0" bIns="0" rtlCol="0" anchor="t"/>
          <a:lstStyle/>
          <a:p>
            <a:pPr indent="0" marL="0">
              <a:buNone/>
            </a:pPr>
            <a:r>
              <a:rPr lang="en-US" sz="1300" dirty="0">
                <a:solidFill>
                  <a:srgbClr val="C9D1E3"/>
                </a:solidFill>
              </a:rPr>
              <a:t>this week’s posts and a short video, tap Post now</a:t>
            </a:r>
            <a:endParaRPr lang="en-US" sz="1300" dirty="0"/>
          </a:p>
        </p:txBody>
      </p:sp>
      <p:sp>
        <p:nvSpPr>
          <p:cNvPr id="27" name="demo step"/>
          <p:cNvSpPr/>
          <p:nvPr/>
        </p:nvSpPr>
        <p:spPr>
          <a:xfrm>
            <a:off x="9546336" y="1737360"/>
            <a:ext cx="2066544" cy="2743200"/>
          </a:xfrm>
          <a:prstGeom prst="roundRect">
            <a:avLst>
              <a:gd name="adj" fmla="val 5310"/>
            </a:avLst>
          </a:prstGeom>
          <a:solidFill>
            <a:schemeClr val="accent2"/>
          </a:solidFill>
          <a:ln w="12700">
            <a:solidFill>
              <a:schemeClr val="accent2"/>
            </a:solidFill>
            <a:prstDash val="solid"/>
          </a:ln>
          <a:effectLst>
            <a:outerShdw sx="100000" sy="100000" kx="0" ky="0" algn="bl" rotWithShape="0" blurRad="228600" dist="50800" dir="5400000">
              <a:srgbClr val="000000">
                <a:alpha val="25000"/>
              </a:srgbClr>
            </a:outerShdw>
          </a:effectLst>
        </p:spPr>
      </p:sp>
      <p:sp>
        <p:nvSpPr>
          <p:cNvPr id="28" name="Text 22"/>
          <p:cNvSpPr txBox="1"/>
          <p:nvPr/>
        </p:nvSpPr>
        <p:spPr>
          <a:xfrm>
            <a:off x="9774936" y="1874520"/>
            <a:ext cx="914400" cy="731520"/>
          </a:xfrm>
          <a:prstGeom prst="rect">
            <a:avLst/>
          </a:prstGeom>
          <a:noFill/>
          <a:ln/>
        </p:spPr>
        <p:txBody>
          <a:bodyPr wrap="square" lIns="0" tIns="0" rIns="0" bIns="0" rtlCol="0" anchor="ctr"/>
          <a:lstStyle/>
          <a:p>
            <a:pPr indent="0" marL="0">
              <a:buNone/>
            </a:pPr>
            <a:r>
              <a:rPr lang="en-US" sz="4000" b="1" dirty="0">
                <a:solidFill>
                  <a:schemeClr val="accent1"/>
                </a:solidFill>
              </a:rPr>
              <a:t>5</a:t>
            </a:r>
            <a:endParaRPr lang="en-US" sz="4000" dirty="0"/>
          </a:p>
        </p:txBody>
      </p:sp>
      <p:sp>
        <p:nvSpPr>
          <p:cNvPr id="29" name="icon circle"/>
          <p:cNvSpPr/>
          <p:nvPr/>
        </p:nvSpPr>
        <p:spPr>
          <a:xfrm>
            <a:off x="10826496" y="1965960"/>
            <a:ext cx="548640" cy="548640"/>
          </a:xfrm>
          <a:prstGeom prst="ellipse">
            <a:avLst/>
          </a:prstGeom>
          <a:solidFill>
            <a:schemeClr val="bg1"/>
          </a:solidFill>
          <a:ln w="12700">
            <a:solidFill>
              <a:schemeClr val="bg1"/>
            </a:solidFill>
            <a:prstDash val="solid"/>
          </a:ln>
        </p:spPr>
      </p:sp>
      <p:pic>
        <p:nvPicPr>
          <p:cNvPr id="30" name="icon" descr="preencoded.png">    </p:cNvPr>
          <p:cNvPicPr>
            <a:picLocks noChangeAspect="1"/>
          </p:cNvPicPr>
          <p:nvPr/>
        </p:nvPicPr>
        <p:blipFill>
          <a:blip r:embed="rId5"/>
          <a:stretch>
            <a:fillRect/>
          </a:stretch>
        </p:blipFill>
        <p:spPr>
          <a:xfrm>
            <a:off x="10947197" y="2086661"/>
            <a:ext cx="307238" cy="307238"/>
          </a:xfrm>
          <a:prstGeom prst="rect">
            <a:avLst/>
          </a:prstGeom>
        </p:spPr>
      </p:pic>
      <p:sp>
        <p:nvSpPr>
          <p:cNvPr id="31" name="Text 24"/>
          <p:cNvSpPr txBox="1"/>
          <p:nvPr/>
        </p:nvSpPr>
        <p:spPr>
          <a:xfrm>
            <a:off x="9774936" y="2788920"/>
            <a:ext cx="1691640" cy="731520"/>
          </a:xfrm>
          <a:prstGeom prst="rect">
            <a:avLst/>
          </a:prstGeom>
          <a:noFill/>
          <a:ln/>
        </p:spPr>
        <p:txBody>
          <a:bodyPr wrap="square" lIns="0" tIns="0" rIns="0" bIns="0" rtlCol="0" anchor="t"/>
          <a:lstStyle/>
          <a:p>
            <a:pPr indent="0" marL="0">
              <a:buNone/>
            </a:pPr>
            <a:r>
              <a:rPr lang="en-US" sz="1700" b="1" dirty="0">
                <a:solidFill>
                  <a:schemeClr val="bg1"/>
                </a:solidFill>
              </a:rPr>
              <a:t>Switch to Sleep</a:t>
            </a:r>
            <a:endParaRPr lang="en-US" sz="1700" dirty="0"/>
          </a:p>
        </p:txBody>
      </p:sp>
      <p:sp>
        <p:nvSpPr>
          <p:cNvPr id="32" name="Text 25"/>
          <p:cNvSpPr txBox="1"/>
          <p:nvPr/>
        </p:nvSpPr>
        <p:spPr>
          <a:xfrm>
            <a:off x="9774936" y="3566160"/>
            <a:ext cx="1691640" cy="1097280"/>
          </a:xfrm>
          <a:prstGeom prst="rect">
            <a:avLst/>
          </a:prstGeom>
          <a:noFill/>
          <a:ln/>
        </p:spPr>
        <p:txBody>
          <a:bodyPr wrap="square" lIns="0" tIns="0" rIns="0" bIns="0" rtlCol="0" anchor="t"/>
          <a:lstStyle/>
          <a:p>
            <a:pPr indent="0" marL="0">
              <a:buNone/>
            </a:pPr>
            <a:r>
              <a:rPr lang="en-US" sz="1300" dirty="0">
                <a:solidFill>
                  <a:srgbClr val="C9D1E3"/>
                </a:solidFill>
              </a:rPr>
              <a:t>the team keeps working on its own</a:t>
            </a:r>
            <a:endParaRPr lang="en-US" sz="1300" dirty="0"/>
          </a:p>
        </p:txBody>
      </p:sp>
      <p:sp>
        <p:nvSpPr>
          <p:cNvPr id="33" name="Text 26"/>
          <p:cNvSpPr txBox="1"/>
          <p:nvPr/>
        </p:nvSpPr>
        <p:spPr>
          <a:xfrm>
            <a:off x="548640" y="4846320"/>
            <a:ext cx="10972800" cy="457200"/>
          </a:xfrm>
          <a:prstGeom prst="rect">
            <a:avLst/>
          </a:prstGeom>
          <a:noFill/>
          <a:ln/>
        </p:spPr>
        <p:txBody>
          <a:bodyPr wrap="square" lIns="0" tIns="0" rIns="0" bIns="0" rtlCol="0" anchor="ctr"/>
          <a:lstStyle/>
          <a:p>
            <a:pPr indent="0" marL="0">
              <a:buNone/>
            </a:pPr>
            <a:r>
              <a:rPr lang="en-US" sz="1500" dirty="0">
                <a:solidFill>
                  <a:srgbClr val="8A93A6"/>
                </a:solidFill>
              </a:rPr>
              <a:t>About 50 seconds. If the internet is slow, use Rehearsal mode on the Live map (no AI credits).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645920"/>
            <a:ext cx="7772400" cy="2194560"/>
          </a:xfrm>
          <a:prstGeom prst="rect">
            <a:avLst/>
          </a:prstGeom>
          <a:noFill/>
          <a:ln/>
        </p:spPr>
        <p:txBody>
          <a:bodyPr wrap="square" lIns="0" tIns="0" rIns="0" bIns="0" rtlCol="0" anchor="t"/>
          <a:lstStyle/>
          <a:p>
            <a:pPr indent="0" marL="0">
              <a:buNone/>
            </a:pPr>
            <a:r>
              <a:rPr lang="en-US" sz="4400" b="1" dirty="0">
                <a:solidFill>
                  <a:schemeClr val="bg1"/>
                </a:solidFill>
              </a:rPr>
              <a:t>A team that never sleeps, for every online seller in Sulaimani</a:t>
            </a:r>
            <a:endParaRPr lang="en-US" sz="4400" dirty="0"/>
          </a:p>
        </p:txBody>
      </p:sp>
      <p:sp>
        <p:nvSpPr>
          <p:cNvPr id="3" name="Text 1"/>
          <p:cNvSpPr txBox="1"/>
          <p:nvPr/>
        </p:nvSpPr>
        <p:spPr>
          <a:xfrm>
            <a:off x="548640" y="3931920"/>
            <a:ext cx="7772400" cy="548640"/>
          </a:xfrm>
          <a:prstGeom prst="rect">
            <a:avLst/>
          </a:prstGeom>
          <a:noFill/>
          <a:ln/>
        </p:spPr>
        <p:txBody>
          <a:bodyPr wrap="square" lIns="0" tIns="0" rIns="0" bIns="0" rtlCol="0" anchor="ctr"/>
          <a:lstStyle/>
          <a:p>
            <a:pPr indent="0" marL="0">
              <a:buNone/>
            </a:pPr>
            <a:r>
              <a:rPr lang="en-US" sz="2000" dirty="0">
                <a:solidFill>
                  <a:srgbClr val="C9D1E3"/>
                </a:solidFill>
              </a:rPr>
              <a:t>Finds your clients. Runs your social media. In Kurdish. You just approve.</a:t>
            </a:r>
            <a:endParaRPr lang="en-US" sz="2000" dirty="0"/>
          </a:p>
        </p:txBody>
      </p:sp>
      <p:sp>
        <p:nvSpPr>
          <p:cNvPr id="4" name="Text 2"/>
          <p:cNvSpPr txBox="1"/>
          <p:nvPr/>
        </p:nvSpPr>
        <p:spPr>
          <a:xfrm>
            <a:off x="548640" y="4937760"/>
            <a:ext cx="7772400" cy="822960"/>
          </a:xfrm>
          <a:prstGeom prst="rect">
            <a:avLst/>
          </a:prstGeom>
          <a:noFill/>
          <a:ln/>
        </p:spPr>
        <p:txBody>
          <a:bodyPr wrap="square" lIns="0" tIns="0" rIns="0" bIns="0" rtlCol="0" anchor="ctr"/>
          <a:lstStyle/>
          <a:p>
            <a:pPr indent="0" marL="0">
              <a:buNone/>
            </a:pPr>
            <a:r>
              <a:rPr lang="en-US" sz="1600" b="1" dirty="0">
                <a:solidFill>
                  <a:schemeClr val="accent1"/>
                </a:solidFill>
              </a:rPr>
              <a:t>Free week · Pro $20 · Agency $60</a:t>
            </a:r>
            <a:endParaRPr lang="en-US" sz="1600" dirty="0"/>
          </a:p>
          <a:p>
            <a:pPr indent="0" marL="0">
              <a:buNone/>
            </a:pPr>
            <a:r>
              <a:rPr lang="en-US" sz="1600" dirty="0">
                <a:solidFill>
                  <a:srgbClr val="8A93A6"/>
                </a:solidFill>
              </a:rPr>
              <a:t>github.com/Ramyar2007/jump-hq  ·  jumpagency.org</a:t>
            </a:r>
            <a:endParaRPr lang="en-US" sz="1600" dirty="0"/>
          </a:p>
        </p:txBody>
      </p:sp>
      <p:pic>
        <p:nvPicPr>
          <p:cNvPr id="5" name="kurdish post" descr="C:\Users\ramya\AppData\Local\Temp\deck\shots\post_img.png">    </p:cNvPr>
          <p:cNvPicPr>
            <a:picLocks noChangeAspect="1"/>
          </p:cNvPicPr>
          <p:nvPr/>
        </p:nvPicPr>
        <p:blipFill>
          <a:blip r:embed="rId1"/>
          <a:stretch>
            <a:fillRect/>
          </a:stretch>
        </p:blipFill>
        <p:spPr>
          <a:xfrm>
            <a:off x="8869680" y="1280160"/>
            <a:ext cx="2743200" cy="3429000"/>
          </a:xfrm>
          <a:prstGeom prst="rect">
            <a:avLst/>
          </a:prstGeom>
          <a:effectLst>
            <a:outerShdw sx="100000" sy="100000" kx="0" ky="0" algn="bl" rotWithShape="0" blurRad="228600" dist="50800" dir="5400000">
              <a:srgbClr val="000000">
                <a:alpha val="25000"/>
              </a:srgbClr>
            </a:outerShdw>
          </a:effectLst>
        </p:spPr>
      </p:pic>
      <p:sp>
        <p:nvSpPr>
          <p:cNvPr id="6" name="Text 3"/>
          <p:cNvSpPr txBox="1"/>
          <p:nvPr/>
        </p:nvSpPr>
        <p:spPr>
          <a:xfrm>
            <a:off x="8869680" y="4937760"/>
            <a:ext cx="2743200" cy="457200"/>
          </a:xfrm>
          <a:prstGeom prst="rect">
            <a:avLst/>
          </a:prstGeom>
          <a:noFill/>
          <a:ln/>
        </p:spPr>
        <p:txBody>
          <a:bodyPr wrap="square" lIns="0" tIns="0" rIns="0" bIns="0" rtlCol="0" anchor="ctr"/>
          <a:lstStyle/>
          <a:p>
            <a:pPr algn="ctr" indent="0" marL="0">
              <a:buNone/>
            </a:pPr>
            <a:r>
              <a:rPr lang="en-US" sz="1800" b="1" dirty="0">
                <a:solidFill>
                  <a:schemeClr val="bg1"/>
                </a:solidFill>
              </a:rPr>
              <a:t>Thank you · سوپاس</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t"/>
          <a:lstStyle/>
          <a:p>
            <a:pPr algn="l" indent="0" marL="0">
              <a:buNone/>
            </a:pPr>
            <a:r>
              <a:rPr lang="en-US" sz="3200" b="1" dirty="0">
                <a:solidFill>
                  <a:schemeClr val="tx1"/>
                </a:solidFill>
              </a:rPr>
              <a:t>Backup: likely judge questions</a:t>
            </a:r>
            <a:endParaRPr lang="en-US" sz="3200" dirty="0"/>
          </a:p>
        </p:txBody>
      </p:sp>
      <p:sp>
        <p:nvSpPr>
          <p:cNvPr id="3" name="card"/>
          <p:cNvSpPr/>
          <p:nvPr/>
        </p:nvSpPr>
        <p:spPr>
          <a:xfrm>
            <a:off x="548640" y="1463040"/>
            <a:ext cx="5440680"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4" name="Text 2"/>
          <p:cNvSpPr txBox="1"/>
          <p:nvPr/>
        </p:nvSpPr>
        <p:spPr>
          <a:xfrm>
            <a:off x="822960" y="1600200"/>
            <a:ext cx="4937760" cy="365760"/>
          </a:xfrm>
          <a:prstGeom prst="rect">
            <a:avLst/>
          </a:prstGeom>
          <a:noFill/>
          <a:ln/>
        </p:spPr>
        <p:txBody>
          <a:bodyPr wrap="square" lIns="0" tIns="0" rIns="0" bIns="0" rtlCol="0" anchor="ctr"/>
          <a:lstStyle/>
          <a:p>
            <a:pPr indent="0" marL="0">
              <a:buNone/>
            </a:pPr>
            <a:r>
              <a:rPr lang="en-US" sz="1600" b="1" dirty="0">
                <a:solidFill>
                  <a:schemeClr val="tx1"/>
                </a:solidFill>
              </a:rPr>
              <a:t>Is it spam?</a:t>
            </a:r>
            <a:endParaRPr lang="en-US" sz="1600" dirty="0"/>
          </a:p>
        </p:txBody>
      </p:sp>
      <p:sp>
        <p:nvSpPr>
          <p:cNvPr id="5" name="Text 3"/>
          <p:cNvSpPr txBox="1"/>
          <p:nvPr/>
        </p:nvSpPr>
        <p:spPr>
          <a:xfrm>
            <a:off x="822960" y="1993392"/>
            <a:ext cx="4937760" cy="822960"/>
          </a:xfrm>
          <a:prstGeom prst="rect">
            <a:avLst/>
          </a:prstGeom>
          <a:noFill/>
          <a:ln/>
        </p:spPr>
        <p:txBody>
          <a:bodyPr wrap="square" lIns="0" tIns="0" rIns="0" bIns="0" rtlCol="0" anchor="t"/>
          <a:lstStyle/>
          <a:p>
            <a:pPr indent="0" marL="0">
              <a:buNone/>
            </a:pPr>
            <a:r>
              <a:rPr lang="en-US" sz="1300" dirty="0">
                <a:solidFill>
                  <a:schemeClr val="accent5"/>
                </a:solidFill>
              </a:rPr>
              <a:t>Nothing goes out without you or the Judge. Daily cap, clear opt-out, only the business’s own public contact.</a:t>
            </a:r>
            <a:endParaRPr lang="en-US" sz="1300" dirty="0"/>
          </a:p>
        </p:txBody>
      </p:sp>
      <p:sp>
        <p:nvSpPr>
          <p:cNvPr id="6" name="card"/>
          <p:cNvSpPr/>
          <p:nvPr/>
        </p:nvSpPr>
        <p:spPr>
          <a:xfrm>
            <a:off x="6172200" y="1463040"/>
            <a:ext cx="5440680"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7" name="Text 5"/>
          <p:cNvSpPr txBox="1"/>
          <p:nvPr/>
        </p:nvSpPr>
        <p:spPr>
          <a:xfrm>
            <a:off x="6446520" y="1600200"/>
            <a:ext cx="4937760" cy="365760"/>
          </a:xfrm>
          <a:prstGeom prst="rect">
            <a:avLst/>
          </a:prstGeom>
          <a:noFill/>
          <a:ln/>
        </p:spPr>
        <p:txBody>
          <a:bodyPr wrap="square" lIns="0" tIns="0" rIns="0" bIns="0" rtlCol="0" anchor="ctr"/>
          <a:lstStyle/>
          <a:p>
            <a:pPr indent="0" marL="0">
              <a:buNone/>
            </a:pPr>
            <a:r>
              <a:rPr lang="en-US" sz="1600" b="1" dirty="0">
                <a:solidFill>
                  <a:schemeClr val="tx1"/>
                </a:solidFill>
              </a:rPr>
              <a:t>What if the AI invents facts?</a:t>
            </a:r>
            <a:endParaRPr lang="en-US" sz="1600" dirty="0"/>
          </a:p>
        </p:txBody>
      </p:sp>
      <p:sp>
        <p:nvSpPr>
          <p:cNvPr id="8" name="Text 6"/>
          <p:cNvSpPr txBox="1"/>
          <p:nvPr/>
        </p:nvSpPr>
        <p:spPr>
          <a:xfrm>
            <a:off x="6446520" y="1993392"/>
            <a:ext cx="4937760" cy="822960"/>
          </a:xfrm>
          <a:prstGeom prst="rect">
            <a:avLst/>
          </a:prstGeom>
          <a:noFill/>
          <a:ln/>
        </p:spPr>
        <p:txBody>
          <a:bodyPr wrap="square" lIns="0" tIns="0" rIns="0" bIns="0" rtlCol="0" anchor="t"/>
          <a:lstStyle/>
          <a:p>
            <a:pPr indent="0" marL="0">
              <a:buNone/>
            </a:pPr>
            <a:r>
              <a:rPr lang="en-US" sz="1300" dirty="0">
                <a:solidFill>
                  <a:schemeClr val="accent5"/>
                </a:solidFill>
              </a:rPr>
              <a:t>The Analyst and the Judge check against verified facts. Samples say “concept”. Posts with invented prices or results are held.</a:t>
            </a:r>
            <a:endParaRPr lang="en-US" sz="1300" dirty="0"/>
          </a:p>
        </p:txBody>
      </p:sp>
      <p:sp>
        <p:nvSpPr>
          <p:cNvPr id="9" name="card"/>
          <p:cNvSpPr/>
          <p:nvPr/>
        </p:nvSpPr>
        <p:spPr>
          <a:xfrm>
            <a:off x="548640" y="3063240"/>
            <a:ext cx="5440680"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0" name="Text 8"/>
          <p:cNvSpPr txBox="1"/>
          <p:nvPr/>
        </p:nvSpPr>
        <p:spPr>
          <a:xfrm>
            <a:off x="822960" y="3200400"/>
            <a:ext cx="4937760" cy="365760"/>
          </a:xfrm>
          <a:prstGeom prst="rect">
            <a:avLst/>
          </a:prstGeom>
          <a:noFill/>
          <a:ln/>
        </p:spPr>
        <p:txBody>
          <a:bodyPr wrap="square" lIns="0" tIns="0" rIns="0" bIns="0" rtlCol="0" anchor="ctr"/>
          <a:lstStyle/>
          <a:p>
            <a:pPr indent="0" marL="0">
              <a:buNone/>
            </a:pPr>
            <a:r>
              <a:rPr lang="en-US" sz="1600" b="1" dirty="0">
                <a:solidFill>
                  <a:schemeClr val="tx1"/>
                </a:solidFill>
              </a:rPr>
              <a:t>Instagram and TikTok?</a:t>
            </a:r>
            <a:endParaRPr lang="en-US" sz="1600" dirty="0"/>
          </a:p>
        </p:txBody>
      </p:sp>
      <p:sp>
        <p:nvSpPr>
          <p:cNvPr id="11" name="Text 9"/>
          <p:cNvSpPr txBox="1"/>
          <p:nvPr/>
        </p:nvSpPr>
        <p:spPr>
          <a:xfrm>
            <a:off x="822960" y="3593592"/>
            <a:ext cx="4937760" cy="822960"/>
          </a:xfrm>
          <a:prstGeom prst="rect">
            <a:avLst/>
          </a:prstGeom>
          <a:noFill/>
          <a:ln/>
        </p:spPr>
        <p:txBody>
          <a:bodyPr wrap="square" lIns="0" tIns="0" rIns="0" bIns="0" rtlCol="0" anchor="t"/>
          <a:lstStyle/>
          <a:p>
            <a:pPr indent="0" marL="0">
              <a:buNone/>
            </a:pPr>
            <a:r>
              <a:rPr lang="en-US" sz="1300" dirty="0">
                <a:solidFill>
                  <a:schemeClr val="accent5"/>
                </a:solidFill>
              </a:rPr>
              <a:t>Facebook Pages and Telegram post automatically via official APIs. Instagram / TikTok: one tap now, automatic after app review.</a:t>
            </a:r>
            <a:endParaRPr lang="en-US" sz="1300" dirty="0"/>
          </a:p>
        </p:txBody>
      </p:sp>
      <p:sp>
        <p:nvSpPr>
          <p:cNvPr id="12" name="card"/>
          <p:cNvSpPr/>
          <p:nvPr/>
        </p:nvSpPr>
        <p:spPr>
          <a:xfrm>
            <a:off x="6172200" y="3063240"/>
            <a:ext cx="5440680"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3" name="Text 11"/>
          <p:cNvSpPr txBox="1"/>
          <p:nvPr/>
        </p:nvSpPr>
        <p:spPr>
          <a:xfrm>
            <a:off x="6446520" y="3200400"/>
            <a:ext cx="4937760" cy="365760"/>
          </a:xfrm>
          <a:prstGeom prst="rect">
            <a:avLst/>
          </a:prstGeom>
          <a:noFill/>
          <a:ln/>
        </p:spPr>
        <p:txBody>
          <a:bodyPr wrap="square" lIns="0" tIns="0" rIns="0" bIns="0" rtlCol="0" anchor="ctr"/>
          <a:lstStyle/>
          <a:p>
            <a:pPr indent="0" marL="0">
              <a:buNone/>
            </a:pPr>
            <a:r>
              <a:rPr lang="en-US" sz="1600" b="1" dirty="0">
                <a:solidFill>
                  <a:schemeClr val="tx1"/>
                </a:solidFill>
              </a:rPr>
              <a:t>Why not just ChatGPT?</a:t>
            </a:r>
            <a:endParaRPr lang="en-US" sz="1600" dirty="0"/>
          </a:p>
        </p:txBody>
      </p:sp>
      <p:sp>
        <p:nvSpPr>
          <p:cNvPr id="14" name="Text 12"/>
          <p:cNvSpPr txBox="1"/>
          <p:nvPr/>
        </p:nvSpPr>
        <p:spPr>
          <a:xfrm>
            <a:off x="6446520" y="3593592"/>
            <a:ext cx="4937760" cy="822960"/>
          </a:xfrm>
          <a:prstGeom prst="rect">
            <a:avLst/>
          </a:prstGeom>
          <a:noFill/>
          <a:ln/>
        </p:spPr>
        <p:txBody>
          <a:bodyPr wrap="square" lIns="0" tIns="0" rIns="0" bIns="0" rtlCol="0" anchor="t"/>
          <a:lstStyle/>
          <a:p>
            <a:pPr indent="0" marL="0">
              <a:buNone/>
            </a:pPr>
            <a:r>
              <a:rPr lang="en-US" sz="1300" dirty="0">
                <a:solidFill>
                  <a:schemeClr val="accent5"/>
                </a:solidFill>
              </a:rPr>
              <a:t>It’s a whole pipeline: find, verify, score, sample, write, judge, post, on its own at night, in Kurdish.</a:t>
            </a:r>
            <a:endParaRPr lang="en-US" sz="1300" dirty="0"/>
          </a:p>
        </p:txBody>
      </p:sp>
      <p:sp>
        <p:nvSpPr>
          <p:cNvPr id="15" name="card"/>
          <p:cNvSpPr/>
          <p:nvPr/>
        </p:nvSpPr>
        <p:spPr>
          <a:xfrm>
            <a:off x="548640" y="4663440"/>
            <a:ext cx="5440680"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6" name="Text 14"/>
          <p:cNvSpPr txBox="1"/>
          <p:nvPr/>
        </p:nvSpPr>
        <p:spPr>
          <a:xfrm>
            <a:off x="822960" y="4800600"/>
            <a:ext cx="4937760" cy="365760"/>
          </a:xfrm>
          <a:prstGeom prst="rect">
            <a:avLst/>
          </a:prstGeom>
          <a:noFill/>
          <a:ln/>
        </p:spPr>
        <p:txBody>
          <a:bodyPr wrap="square" lIns="0" tIns="0" rIns="0" bIns="0" rtlCol="0" anchor="ctr"/>
          <a:lstStyle/>
          <a:p>
            <a:pPr indent="0" marL="0">
              <a:buNone/>
            </a:pPr>
            <a:r>
              <a:rPr lang="en-US" sz="1600" b="1" dirty="0">
                <a:solidFill>
                  <a:schemeClr val="tx1"/>
                </a:solidFill>
              </a:rPr>
              <a:t>Privacy?</a:t>
            </a:r>
            <a:endParaRPr lang="en-US" sz="1600" dirty="0"/>
          </a:p>
        </p:txBody>
      </p:sp>
      <p:sp>
        <p:nvSpPr>
          <p:cNvPr id="17" name="Text 15"/>
          <p:cNvSpPr txBox="1"/>
          <p:nvPr/>
        </p:nvSpPr>
        <p:spPr>
          <a:xfrm>
            <a:off x="822960" y="5193792"/>
            <a:ext cx="4937760" cy="822960"/>
          </a:xfrm>
          <a:prstGeom prst="rect">
            <a:avLst/>
          </a:prstGeom>
          <a:noFill/>
          <a:ln/>
        </p:spPr>
        <p:txBody>
          <a:bodyPr wrap="square" lIns="0" tIns="0" rIns="0" bIns="0" rtlCol="0" anchor="t"/>
          <a:lstStyle/>
          <a:p>
            <a:pPr indent="0" marL="0">
              <a:buNone/>
            </a:pPr>
            <a:r>
              <a:rPr lang="en-US" sz="1300" dirty="0">
                <a:solidFill>
                  <a:schemeClr val="accent5"/>
                </a:solidFill>
              </a:rPr>
              <a:t>Public business information only, never private people. Each customer has a private Jump HQ.</a:t>
            </a:r>
            <a:endParaRPr lang="en-US" sz="1300" dirty="0"/>
          </a:p>
        </p:txBody>
      </p:sp>
      <p:sp>
        <p:nvSpPr>
          <p:cNvPr id="18" name="card"/>
          <p:cNvSpPr/>
          <p:nvPr/>
        </p:nvSpPr>
        <p:spPr>
          <a:xfrm>
            <a:off x="6172200" y="4663440"/>
            <a:ext cx="5440680" cy="1417320"/>
          </a:xfrm>
          <a:prstGeom prst="roundRect">
            <a:avLst>
              <a:gd name="adj" fmla="val 7742"/>
            </a:avLst>
          </a:prstGeom>
          <a:solidFill>
            <a:schemeClr val="bg1"/>
          </a:solidFill>
          <a:ln w="12700">
            <a:solidFill>
              <a:schemeClr val="bg1"/>
            </a:solidFill>
            <a:prstDash val="solid"/>
          </a:ln>
          <a:effectLst>
            <a:outerShdw sx="100000" sy="100000" kx="0" ky="0" algn="bl" rotWithShape="0" blurRad="228600" dist="50800" dir="5400000">
              <a:srgbClr val="000000">
                <a:alpha val="25000"/>
              </a:srgbClr>
            </a:outerShdw>
          </a:effectLst>
        </p:spPr>
      </p:sp>
      <p:sp>
        <p:nvSpPr>
          <p:cNvPr id="19" name="Text 17"/>
          <p:cNvSpPr txBox="1"/>
          <p:nvPr/>
        </p:nvSpPr>
        <p:spPr>
          <a:xfrm>
            <a:off x="6446520" y="4800600"/>
            <a:ext cx="4937760" cy="365760"/>
          </a:xfrm>
          <a:prstGeom prst="rect">
            <a:avLst/>
          </a:prstGeom>
          <a:noFill/>
          <a:ln/>
        </p:spPr>
        <p:txBody>
          <a:bodyPr wrap="square" lIns="0" tIns="0" rIns="0" bIns="0" rtlCol="0" anchor="ctr"/>
          <a:lstStyle/>
          <a:p>
            <a:pPr indent="0" marL="0">
              <a:buNone/>
            </a:pPr>
            <a:r>
              <a:rPr lang="en-US" sz="1600" b="1" dirty="0">
                <a:solidFill>
                  <a:schemeClr val="tx1"/>
                </a:solidFill>
              </a:rPr>
              <a:t>How do you make money?</a:t>
            </a:r>
            <a:endParaRPr lang="en-US" sz="1600" dirty="0"/>
          </a:p>
        </p:txBody>
      </p:sp>
      <p:sp>
        <p:nvSpPr>
          <p:cNvPr id="20" name="Text 18"/>
          <p:cNvSpPr txBox="1"/>
          <p:nvPr/>
        </p:nvSpPr>
        <p:spPr>
          <a:xfrm>
            <a:off x="6446520" y="5193792"/>
            <a:ext cx="4937760" cy="822960"/>
          </a:xfrm>
          <a:prstGeom prst="rect">
            <a:avLst/>
          </a:prstGeom>
          <a:noFill/>
          <a:ln/>
        </p:spPr>
        <p:txBody>
          <a:bodyPr wrap="square" lIns="0" tIns="0" rIns="0" bIns="0" rtlCol="0" anchor="t"/>
          <a:lstStyle/>
          <a:p>
            <a:pPr indent="0" marL="0">
              <a:buNone/>
            </a:pPr>
            <a:r>
              <a:rPr lang="en-US" sz="1300" dirty="0">
                <a:solidFill>
                  <a:schemeClr val="accent5"/>
                </a:solidFill>
              </a:rPr>
              <a:t>Customers pay monthly, we pay the AI. Plan limits cap cost; the owner view shows cost vs revenue per customer.</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Jump HQ">
  <a:themeElements>
    <a:clrScheme name="Jump HQ">
      <a:dk1>
        <a:srgbClr val="0E1A33"/>
      </a:dk1>
      <a:lt1>
        <a:srgbClr val="FFFFFF"/>
      </a:lt1>
      <a:dk2>
        <a:srgbClr val="0E1A33"/>
      </a:dk2>
      <a:lt2>
        <a:srgbClr val="F4F6FA"/>
      </a:lt2>
      <a:accent1>
        <a:srgbClr val="FF6B2C"/>
      </a:accent1>
      <a:accent2>
        <a:srgbClr val="1A2A4F"/>
      </a:accent2>
      <a:accent3>
        <a:srgbClr val="1F9D62"/>
      </a:accent3>
      <a:accent4>
        <a:srgbClr val="D64545"/>
      </a:accent4>
      <a:accent5>
        <a:srgbClr val="8A93A6"/>
      </a:accent5>
      <a:accent6>
        <a:srgbClr val="FFD2BD"/>
      </a:accent6>
      <a:hlink>
        <a:srgbClr val="FF6B2C"/>
      </a:hlink>
      <a:folHlink>
        <a:srgbClr val="1A2A4F"/>
      </a:folHlink>
    </a:clrScheme>
    <a:fontScheme name="Jump HQ">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Jump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Jump HQ</dc:title>
  <dc:subject>PptxGenJS Presentation</dc:subject>
  <dc:creator>Ramyar · Jump</dc:creator>
  <cp:lastModifiedBy>Ramyar · Jump</cp:lastModifiedBy>
  <cp:revision>1</cp:revision>
  <dcterms:created xsi:type="dcterms:W3CDTF">2026-10-09T17:30:34Z</dcterms:created>
  <dcterms:modified xsi:type="dcterms:W3CDTF">2026-10-09T17:30:34Z</dcterms:modified>
</cp:coreProperties>
</file>